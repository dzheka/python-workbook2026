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" cy="137160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8686800" cy="18288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FFD43B"/>
                </a:solidFill>
                <a:latin typeface="Trebuchet MS"/>
              </a:rPr>
              <a:t>PYTHON · TOPIC 4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5200" b="1" i="0">
                <a:solidFill>
                  <a:srgbClr val="FFFFFF"/>
                </a:solidFill>
                <a:latin typeface="Trebuchet MS"/>
              </a:rPr>
              <a:t>Name It Once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A9BDD1"/>
                </a:solidFill>
                <a:latin typeface="Trebuchet MS"/>
              </a:rPr>
              <a:t>Functions: def, parameters, return, and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31920"/>
            <a:ext cx="9601200" cy="18288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8FB6D9"/>
                </a:solidFill>
                <a:latin typeface="Trebuchet MS"/>
              </a:rPr>
              <a:t>A loop repeats work in one place.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8FB6D9"/>
                </a:solidFill>
                <a:latin typeface="Trebuchet MS"/>
              </a:rPr>
              <a:t>A function lets you reuse it anywhere — by name.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669280"/>
            <a:ext cx="9144000" cy="457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E8AA3"/>
                </a:solidFill>
                <a:latin typeface="Trebuchet MS"/>
              </a:rPr>
              <a:t>python-workbook2026  ·  functions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ROADMAP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What we cover today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10911534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95"/>
                <a:gridCol w="3507279"/>
                <a:gridCol w="6624860"/>
              </a:tblGrid>
              <a:tr h="33604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Part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Topic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You will be able to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</a:tr>
              <a:tr h="33604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2A38"/>
                          </a:solidFill>
                          <a:latin typeface="Trebuchet MS"/>
                        </a:rPr>
                        <a:t>Why functions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define a function and call it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604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2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2A38"/>
                          </a:solidFill>
                          <a:latin typeface="Trebuchet MS"/>
                        </a:rPr>
                        <a:t>Parameters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pass values in, with defaults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604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2A38"/>
                          </a:solidFill>
                          <a:latin typeface="Trebuchet MS"/>
                        </a:rPr>
                        <a:t>`return`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hand a value back — and know it is not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print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604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4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2A38"/>
                          </a:solidFill>
                          <a:latin typeface="Trebuchet MS"/>
                        </a:rPr>
                        <a:t>Type hints &amp; docstrings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say what goes in and what comes out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604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2A38"/>
                          </a:solidFill>
                          <a:latin typeface="Trebuchet MS"/>
                        </a:rPr>
                        <a:t>Scope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tell local variables from global ones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604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6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2A38"/>
                          </a:solidFill>
                          <a:latin typeface="Trebuchet MS"/>
                        </a:rPr>
                        <a:t>Patterns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recognise the functions you will write all year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604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2A38"/>
                          </a:solidFill>
                          <a:latin typeface="Trebuchet MS"/>
                        </a:rPr>
                        <a:t>Modules &amp; imports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use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math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, and guard code with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__main__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12064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5120640"/>
            <a:ext cx="64008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521208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Trebuchet MS"/>
              </a:rPr>
              <a:t>REMEMBER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From today an exercise is no longer a script that prints — it is a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function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the tests call with their own arguments.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68096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D43B"/>
                </a:solidFill>
                <a:latin typeface="Trebuchet MS"/>
              </a:rPr>
              <a:t>PART 1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Trebuchet MS"/>
              </a:rPr>
              <a:t>Why functions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9BDD1"/>
                </a:solidFill>
                <a:latin typeface="Trebuchet MS"/>
              </a:rPr>
              <a:t>Write it once, use it many times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03120"/>
            <a:ext cx="329184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D43B"/>
                </a:solidFill>
                <a:latin typeface="Trebuchet MS"/>
              </a:rPr>
              <a:t>IN THIS PART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Copy-paste again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`def` and the body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Calling a function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WITHOUT A FUNCTION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The same three lines, three times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Why functions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120640" cy="2043678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4754880" cy="176935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a = 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print(a * a)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b = 7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print(b * b)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c = 12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print(c * 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00200"/>
            <a:ext cx="5120640" cy="2043678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783080"/>
            <a:ext cx="4754880" cy="176935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def square(x):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return x * x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print(square(3))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print(square(7))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print(square(12))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46214"/>
            <a:ext cx="10911535" cy="2171706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Fix a bug in </a:t>
            </a:r>
            <a:r>
              <a:rPr sz="1800" b="0">
                <a:solidFill>
                  <a:srgbClr val="3776AB"/>
                </a:solidFill>
                <a:latin typeface="Consolas"/>
              </a:rPr>
              <a:t>square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once — every call is fixed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The name says </a:t>
            </a:r>
            <a:r>
              <a:rPr sz="1800" b="1">
                <a:solidFill>
                  <a:srgbClr val="1E2A38"/>
                </a:solidFill>
                <a:latin typeface="Trebuchet MS"/>
              </a:rPr>
              <a:t>what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happens; the body says </a:t>
            </a:r>
            <a:r>
              <a:rPr sz="1800" b="1">
                <a:solidFill>
                  <a:srgbClr val="1E2A38"/>
                </a:solidFill>
                <a:latin typeface="Trebuchet MS"/>
              </a:rPr>
              <a:t>how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39496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5394960"/>
            <a:ext cx="64008" cy="713232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548640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776AB"/>
                </a:solidFill>
                <a:latin typeface="Trebuchet MS"/>
              </a:rPr>
              <a:t>TIP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Functions you already use: </a:t>
            </a:r>
            <a:r>
              <a:rPr sz="1500" b="0">
                <a:solidFill>
                  <a:srgbClr val="3776AB"/>
                </a:solidFill>
                <a:latin typeface="Consolas"/>
              </a:rPr>
              <a:t>print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, </a:t>
            </a:r>
            <a:r>
              <a:rPr sz="1500" b="0">
                <a:solidFill>
                  <a:srgbClr val="3776AB"/>
                </a:solidFill>
                <a:latin typeface="Consolas"/>
              </a:rPr>
              <a:t>input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, </a:t>
            </a:r>
            <a:r>
              <a:rPr sz="1500" b="0">
                <a:solidFill>
                  <a:srgbClr val="3776AB"/>
                </a:solidFill>
                <a:latin typeface="Consolas"/>
              </a:rPr>
              <a:t>len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, </a:t>
            </a:r>
            <a:r>
              <a:rPr sz="1500" b="0">
                <a:solidFill>
                  <a:srgbClr val="3776AB"/>
                </a:solidFill>
                <a:latin typeface="Consolas"/>
              </a:rPr>
              <a:t>int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, </a:t>
            </a:r>
            <a:r>
              <a:rPr sz="1500" b="0">
                <a:solidFill>
                  <a:srgbClr val="3776AB"/>
                </a:solidFill>
                <a:latin typeface="Consolas"/>
              </a:rPr>
              <a:t>round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. Today you write your own.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DEF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Anatomy of a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Why functions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11535" cy="1232151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545775" cy="957831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def greet(name):            # def  name  (parameters)  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message = f"Hello, {name}!"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return message          # the indented block is the body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3143247"/>
          <a:ext cx="10911534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8186"/>
                <a:gridCol w="8573348"/>
              </a:tblGrid>
              <a:tr h="3401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Part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Meaning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def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the keyword that starts a definition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greet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the name — same rules as a variable name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(name)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the parameters — the values the function needs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01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: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 + indent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the body, exactly like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if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 and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for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539496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394960"/>
            <a:ext cx="64008" cy="7132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548640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62828"/>
                </a:solidFill>
                <a:latin typeface="Trebuchet MS"/>
              </a:rPr>
              <a:t>WATCH OUT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Defining a function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runs nothing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. The body only runs when the function is called.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CALL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Calling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Why functions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852160" cy="1773169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5486400" cy="1498849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def greet():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print("Hello, World!")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greet()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greet()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600200"/>
            <a:ext cx="4389120" cy="1107946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1746504"/>
            <a:ext cx="4023360" cy="87020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A6672"/>
                </a:solidFill>
                <a:latin typeface="Trebuchet MS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Hello, World!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Hello, World!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75705"/>
            <a:ext cx="10911535" cy="2442215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A call is the name followed by parentheses: </a:t>
            </a:r>
            <a:r>
              <a:rPr sz="1800" b="0">
                <a:solidFill>
                  <a:srgbClr val="3776AB"/>
                </a:solidFill>
                <a:latin typeface="Consolas"/>
              </a:rPr>
              <a:t>greet()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3776AB"/>
                </a:solidFill>
                <a:latin typeface="Consolas"/>
              </a:rPr>
              <a:t>greet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without </a:t>
            </a:r>
            <a:r>
              <a:rPr sz="1800" b="0">
                <a:solidFill>
                  <a:srgbClr val="3776AB"/>
                </a:solidFill>
                <a:latin typeface="Consolas"/>
              </a:rPr>
              <a:t>()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does not call it — it is just the function itself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Define first, call after: Python reads the file top to bottom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68096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D43B"/>
                </a:solidFill>
                <a:latin typeface="Trebuchet MS"/>
              </a:rPr>
              <a:t>PART 2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Trebuchet MS"/>
              </a:rPr>
              <a:t>Parameters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9BDD1"/>
                </a:solidFill>
                <a:latin typeface="Trebuchet MS"/>
              </a:rPr>
              <a:t>Values going into a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03120"/>
            <a:ext cx="329184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D43B"/>
                </a:solidFill>
                <a:latin typeface="Trebuchet MS"/>
              </a:rPr>
              <a:t>IN THIS PART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Parameter vs argument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Several parameters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Default values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INPUTS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Parameter and argument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Parameters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6400800" cy="1773169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6035040" cy="1498849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def greet(name):            # name  -&gt; parameter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print(f"Hello, {name}!")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greet("Alice")              # "Alice" -&gt; argument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greet("Bob")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600200"/>
            <a:ext cx="3840480" cy="1107946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07808" y="1746504"/>
            <a:ext cx="3474720" cy="87020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A6672"/>
                </a:solidFill>
                <a:latin typeface="Trebuchet MS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Hello, Alice!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Hello, Bob!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775705"/>
          <a:ext cx="10911534" cy="1042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8186"/>
                <a:gridCol w="5455767"/>
                <a:gridCol w="3117581"/>
              </a:tblGrid>
              <a:tr h="34747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Word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Where it lives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Example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2A38"/>
                          </a:solidFill>
                          <a:latin typeface="Trebuchet MS"/>
                        </a:rPr>
                        <a:t>parameter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in the definition — a placeholder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name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3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2A38"/>
                          </a:solidFill>
                          <a:latin typeface="Trebuchet MS"/>
                        </a:rPr>
                        <a:t>argument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in the call — the real value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"Alice"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ORDER MATTERS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Several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Parameters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11535" cy="1773169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545775" cy="1498849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def rectangle_area(length, width):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return length * width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print(rectangle_area(5, 3))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print(rectangle_area(width=3, length=5))   # by name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92825"/>
            <a:ext cx="10911535" cy="1107946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739129"/>
            <a:ext cx="10545775" cy="87020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A6672"/>
                </a:solidFill>
                <a:latin typeface="Trebuchet MS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15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920227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920227"/>
            <a:ext cx="64008" cy="713232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5011667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776AB"/>
                </a:solidFill>
                <a:latin typeface="Trebuchet MS"/>
              </a:rPr>
              <a:t>TIP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Arguments are matched to parameters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by position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: the first value goes to the first parameter. Naming them removes the doubt.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OPTIONAL ARGUMENTS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Default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Parameters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6400800" cy="1773169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6035040" cy="1498849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def greet(name, greeting="Hello"):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print(f"{greeting}, {name}!")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greet("Alice")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greet("Bob", "Hi")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600200"/>
            <a:ext cx="3840480" cy="1107946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07808" y="1746504"/>
            <a:ext cx="3474720" cy="87020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A6672"/>
                </a:solidFill>
                <a:latin typeface="Trebuchet MS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Hello, Alice!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Hi, Bob!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75705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775705"/>
            <a:ext cx="64008" cy="7132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867145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62828"/>
                </a:solidFill>
                <a:latin typeface="Trebuchet MS"/>
              </a:rPr>
              <a:t>WATCH OUT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Parameters with a default come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after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the ones without. </a:t>
            </a:r>
            <a:r>
              <a:rPr sz="1500" b="0">
                <a:solidFill>
                  <a:srgbClr val="3776AB"/>
                </a:solidFill>
                <a:latin typeface="Consolas"/>
              </a:rPr>
              <a:t>def greet(greeting="Hello", name):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is a SyntaxError.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68096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D43B"/>
                </a:solidFill>
                <a:latin typeface="Trebuchet MS"/>
              </a:rPr>
              <a:t>PART 3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Trebuchet MS"/>
              </a:rPr>
              <a:t>return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9BDD1"/>
                </a:solidFill>
                <a:latin typeface="Trebuchet MS"/>
              </a:rPr>
              <a:t>Values coming out of a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03120"/>
            <a:ext cx="329184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D43B"/>
                </a:solidFill>
                <a:latin typeface="Trebuchet MS"/>
              </a:rPr>
              <a:t>IN THIS PART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`return` vs `print`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`None`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Returning early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Two values at once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RETURN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return hands the value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return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852160" cy="2043678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5486400" cy="176935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def add(a, b):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return a + 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result = add(3, 5)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total = add(10, 20) + add(5, 3)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print(result, total)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600200"/>
            <a:ext cx="4389120" cy="837437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1746504"/>
            <a:ext cx="4023360" cy="599693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A6672"/>
                </a:solidFill>
                <a:latin typeface="Trebuchet MS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8 38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54774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954774"/>
            <a:ext cx="64008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046214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Trebuchet MS"/>
              </a:rPr>
              <a:t>REMEMBER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A call with </a:t>
            </a:r>
            <a:r>
              <a:rPr sz="1500" b="0">
                <a:solidFill>
                  <a:srgbClr val="3776AB"/>
                </a:solidFill>
                <a:latin typeface="Consolas"/>
              </a:rPr>
              <a:t>return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is an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expression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: store it, add it, pass it to another function — like any value.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THE BIG ONE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print is not return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return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120640" cy="1773169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4754880" cy="1498849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def add_and_print(a, b):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print(a + b)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r = add_and_print(3, 5)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00200"/>
            <a:ext cx="5120640" cy="1773169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783080"/>
            <a:ext cx="4754880" cy="1498849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def add_and_return(a, b):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return a + 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r = add_and_return(3, 5)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92825"/>
            <a:ext cx="5120640" cy="1107946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739129"/>
            <a:ext cx="4754880" cy="87020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A6672"/>
                </a:solidFill>
                <a:latin typeface="Trebuchet MS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None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592825"/>
            <a:ext cx="5120640" cy="837437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3739129"/>
            <a:ext cx="4754880" cy="599693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A6672"/>
                </a:solidFill>
                <a:latin typeface="Trebuchet MS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5780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257800"/>
            <a:ext cx="64008" cy="7132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534924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62828"/>
                </a:solidFill>
                <a:latin typeface="Trebuchet MS"/>
              </a:rPr>
              <a:t>WATCH OUT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A function with no </a:t>
            </a:r>
            <a:r>
              <a:rPr sz="1500" b="0">
                <a:solidFill>
                  <a:srgbClr val="3776AB"/>
                </a:solidFill>
                <a:latin typeface="Consolas"/>
              </a:rPr>
              <a:t>return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returns </a:t>
            </a:r>
            <a:r>
              <a:rPr sz="1500" b="0">
                <a:solidFill>
                  <a:srgbClr val="3776AB"/>
                </a:solidFill>
                <a:latin typeface="Consolas"/>
              </a:rPr>
              <a:t>None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. The tests check what you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return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— printing the right answer scores nothing.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EARLY RETURN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return ends the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return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11535" cy="2584696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545775" cy="2310376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def is_even(n):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if n % 2 == 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    return True        # leaves right here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return False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EA6BD"/>
                </a:solidFill>
                <a:latin typeface="Consolas"/>
              </a:rPr>
              <a:t># the same, shorter: the comparison already is a bool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def is_even(n):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return n % 2 ==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404352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404352"/>
            <a:ext cx="64008" cy="713232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4495792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776AB"/>
                </a:solidFill>
                <a:latin typeface="Trebuchet MS"/>
              </a:rPr>
              <a:t>TIP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Nothing after a </a:t>
            </a:r>
            <a:r>
              <a:rPr sz="1500" b="0">
                <a:solidFill>
                  <a:srgbClr val="3776AB"/>
                </a:solidFill>
                <a:latin typeface="Consolas"/>
              </a:rPr>
              <a:t>return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in the same branch ever runs — use it to leave as soon as you know the answer.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TUPLES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Returning two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return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6217920" cy="2855205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5852160" cy="2580885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import math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def circle(radius):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area = math.pi * radius ** 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length = 2 * math.pi * radius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return area, length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a, c = circle(5)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print(f"{a:.2f} {c:.2f}")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600200"/>
            <a:ext cx="4023360" cy="837437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24928" y="1746504"/>
            <a:ext cx="3657600" cy="599693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A6672"/>
                </a:solidFill>
                <a:latin typeface="Trebuchet MS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78.54 31.42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766301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766301"/>
            <a:ext cx="64008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857741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Trebuchet MS"/>
              </a:rPr>
              <a:t>REMEMBER</a:t>
            </a:r>
          </a:p>
          <a:p>
            <a:r>
              <a:rPr sz="1500" b="0">
                <a:solidFill>
                  <a:srgbClr val="3776AB"/>
                </a:solidFill>
                <a:latin typeface="Consolas"/>
              </a:rPr>
              <a:t>return area, length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returns a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tuple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; </a:t>
            </a:r>
            <a:r>
              <a:rPr sz="1500" b="0">
                <a:solidFill>
                  <a:srgbClr val="3776AB"/>
                </a:solidFill>
                <a:latin typeface="Consolas"/>
              </a:rPr>
              <a:t>a, c = ...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unpacks it into two variables.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68096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D43B"/>
                </a:solidFill>
                <a:latin typeface="Trebuchet MS"/>
              </a:rPr>
              <a:t>PART 4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Trebuchet MS"/>
              </a:rPr>
              <a:t>Type hints &amp; docstrings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9BDD1"/>
                </a:solidFill>
                <a:latin typeface="Trebuchet MS"/>
              </a:rPr>
              <a:t>Saying what goes in and what comes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03120"/>
            <a:ext cx="329184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D43B"/>
                </a:solidFill>
                <a:latin typeface="Trebuchet MS"/>
              </a:rPr>
              <a:t>IN THIS PART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`x: int` and `-&gt; float`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Docstrings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`help()`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ANNOTATIONS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Type hints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Type hints &amp; docstrings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11535" cy="1773169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545775" cy="1498849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def bmi(weight: float, height: float) -&gt; float: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return weight / height ** 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def greet(name: str) -&gt; None: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print(f"Hello, {name}!")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84265"/>
            <a:ext cx="10911535" cy="2533655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3776AB"/>
                </a:solidFill>
                <a:latin typeface="Consolas"/>
              </a:rPr>
              <a:t>name: type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after a parameter, </a:t>
            </a:r>
            <a:r>
              <a:rPr sz="1800" b="0">
                <a:solidFill>
                  <a:srgbClr val="3776AB"/>
                </a:solidFill>
                <a:latin typeface="Consolas"/>
              </a:rPr>
              <a:t>-&gt; type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after the parentheses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3776AB"/>
                </a:solidFill>
                <a:latin typeface="Consolas"/>
              </a:rPr>
              <a:t>-&gt; None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means: this function returns nothing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VS Code reads them and warns you before you run the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30352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303520"/>
            <a:ext cx="64008" cy="7132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539496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62828"/>
                </a:solidFill>
                <a:latin typeface="Trebuchet MS"/>
              </a:rPr>
              <a:t>WATCH OUT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Hints are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documentation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. Python does not check them at run time — </a:t>
            </a:r>
            <a:r>
              <a:rPr sz="1500" b="0">
                <a:solidFill>
                  <a:srgbClr val="3776AB"/>
                </a:solidFill>
                <a:latin typeface="Consolas"/>
              </a:rPr>
              <a:t>bmi('70', 1.75)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still runs, and still crashes.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DOCUMENTATION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Docstrings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Type hints &amp; docstrings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852160" cy="1773169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5486400" cy="1498849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def square(x: int) -&gt; int: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"""Return the square of x."""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return x * x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help(square)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600200"/>
            <a:ext cx="4389120" cy="1107946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1746504"/>
            <a:ext cx="4023360" cy="87020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A6672"/>
                </a:solidFill>
                <a:latin typeface="Trebuchet MS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square(x: int) -&gt; int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    Return the square of 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84265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684265"/>
            <a:ext cx="64008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775705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Trebuchet MS"/>
              </a:rPr>
              <a:t>REMEMBER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A docstring is the first line of the body, in triple quotes. It says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what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the function does — not how.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68096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D43B"/>
                </a:solidFill>
                <a:latin typeface="Trebuchet MS"/>
              </a:rPr>
              <a:t>PART 5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Trebuchet MS"/>
              </a:rPr>
              <a:t>Scope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9BDD1"/>
                </a:solidFill>
                <a:latin typeface="Trebuchet MS"/>
              </a:rPr>
              <a:t>Where a variable can be seen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03120"/>
            <a:ext cx="329184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D43B"/>
                </a:solidFill>
                <a:latin typeface="Trebuchet MS"/>
              </a:rPr>
              <a:t>IN THIS PART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Local variables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Global variables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Shadowing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LOCAL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What happens in a function stays there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11535" cy="2043678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545775" cy="176935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def calculate():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x = 10              # local: lives only during the call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return x * 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print(calculate())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print(x)                # NameError: name 'x' is not defined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63334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863334"/>
            <a:ext cx="64008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954774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Trebuchet MS"/>
              </a:rPr>
              <a:t>REMEMBER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Parameters are local too. Inside, a function sees its own variables; outside, nobody sees them.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SHADOWING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Same name, two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852160" cy="2584696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5486400" cy="2310376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x = 100                 # global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def calculate():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x = 10              # a new, local x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return x * 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print(calculate())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print(x)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600200"/>
            <a:ext cx="4389120" cy="1107946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1746504"/>
            <a:ext cx="4023360" cy="87020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A6672"/>
                </a:solidFill>
                <a:latin typeface="Trebuchet MS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20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95792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495792"/>
            <a:ext cx="64008" cy="713232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587232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776AB"/>
                </a:solidFill>
                <a:latin typeface="Trebuchet MS"/>
              </a:rPr>
              <a:t>TIP</a:t>
            </a:r>
          </a:p>
          <a:p>
            <a:r>
              <a:rPr sz="1500" b="0">
                <a:solidFill>
                  <a:srgbClr val="3776AB"/>
                </a:solidFill>
                <a:latin typeface="Consolas"/>
              </a:rPr>
              <a:t>global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lets a function change an outer variable — avoid it. Pass values in as parameters and </a:t>
            </a:r>
            <a:r>
              <a:rPr sz="1500" b="0">
                <a:solidFill>
                  <a:srgbClr val="3776AB"/>
                </a:solidFill>
                <a:latin typeface="Consolas"/>
              </a:rPr>
              <a:t>return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the result.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68096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D43B"/>
                </a:solidFill>
                <a:latin typeface="Trebuchet MS"/>
              </a:rPr>
              <a:t>PART 6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Trebuchet MS"/>
              </a:rPr>
              <a:t>Patterns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9BDD1"/>
                </a:solidFill>
                <a:latin typeface="Trebuchet MS"/>
              </a:rPr>
              <a:t>Five kinds of function you will write all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03120"/>
            <a:ext cx="329184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D43B"/>
                </a:solidFill>
                <a:latin typeface="Trebuchet MS"/>
              </a:rPr>
              <a:t>IN THIS PART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Formula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Yes / no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Conversion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Accumulation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Validation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PATTERNS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Formula and yes / no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Patterns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11535" cy="2314187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545775" cy="2039867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import math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def get_hypotenuse(a: float, b: float) -&gt; float: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return math.sqrt(a ** 2 + b ** 2)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def is_leap_year(year: int) -&gt; bool: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return year % 4 == 0 and year % 100 != 0 or year % 400 ==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843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133843"/>
            <a:ext cx="64008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4225283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Trebuchet MS"/>
              </a:rPr>
              <a:t>REMEMBER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Functions that answer yes / no return a </a:t>
            </a:r>
            <a:r>
              <a:rPr sz="1500" b="0">
                <a:solidFill>
                  <a:srgbClr val="3776AB"/>
                </a:solidFill>
                <a:latin typeface="Consolas"/>
              </a:rPr>
              <a:t>bool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and start with </a:t>
            </a:r>
            <a:r>
              <a:rPr sz="1500" b="0">
                <a:solidFill>
                  <a:srgbClr val="3776AB"/>
                </a:solidFill>
                <a:latin typeface="Consolas"/>
              </a:rPr>
              <a:t>is_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or </a:t>
            </a:r>
            <a:r>
              <a:rPr sz="1500" b="0">
                <a:solidFill>
                  <a:srgbClr val="3776AB"/>
                </a:solidFill>
                <a:latin typeface="Consolas"/>
              </a:rPr>
              <a:t>has_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: </a:t>
            </a:r>
            <a:r>
              <a:rPr sz="1500" b="0">
                <a:solidFill>
                  <a:srgbClr val="3776AB"/>
                </a:solidFill>
                <a:latin typeface="Consolas"/>
              </a:rPr>
              <a:t>is_even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, </a:t>
            </a:r>
            <a:r>
              <a:rPr sz="1500" b="0">
                <a:solidFill>
                  <a:srgbClr val="3776AB"/>
                </a:solidFill>
                <a:latin typeface="Consolas"/>
              </a:rPr>
              <a:t>is_prime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, </a:t>
            </a:r>
            <a:r>
              <a:rPr sz="1500" b="0">
                <a:solidFill>
                  <a:srgbClr val="3776AB"/>
                </a:solidFill>
                <a:latin typeface="Consolas"/>
              </a:rPr>
              <a:t>is_triangle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ACCUMULATION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A loop inside a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Patterns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6766560" cy="2855205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6400800" cy="2580885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def digit_sum(number: int) -&gt; int: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total = 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number = abs(number)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while number &gt; 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    total += number % 10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    number //= 10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return total             # after the loop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print(digit_sum(12345))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600200"/>
            <a:ext cx="3474720" cy="837437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73568" y="1746504"/>
            <a:ext cx="3108960" cy="599693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A6672"/>
                </a:solidFill>
                <a:latin typeface="Trebuchet MS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766301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766301"/>
            <a:ext cx="64008" cy="7132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857741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62828"/>
                </a:solidFill>
                <a:latin typeface="Trebuchet MS"/>
              </a:rPr>
              <a:t>WATCH OUT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A </a:t>
            </a:r>
            <a:r>
              <a:rPr sz="1500" b="0">
                <a:solidFill>
                  <a:srgbClr val="3776AB"/>
                </a:solidFill>
                <a:latin typeface="Consolas"/>
              </a:rPr>
              <a:t>return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inside the loop leaves on the first turn. Indent it at the level of the loop, not the body.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SUMMARY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Patterns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Patterns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911534" cy="2029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8186"/>
                <a:gridCol w="3312430"/>
                <a:gridCol w="5260918"/>
              </a:tblGrid>
              <a:tr h="338327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Pattern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Returns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Exercises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</a:tr>
              <a:tr h="338327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formula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a number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circle_area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,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bmi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,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triangle_area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8327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yes / no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True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 /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is_even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,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is_prime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,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is_leap_year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8327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conversion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the same value, new form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fahrenheit_to_celsius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,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hex_decimal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8327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accumulation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a total or a string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digit_sum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,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caesar_cipher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833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validation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True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 /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is_triangle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,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password_strength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48056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4480560"/>
            <a:ext cx="64008" cy="713232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457200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776AB"/>
                </a:solidFill>
                <a:latin typeface="Trebuchet MS"/>
              </a:rPr>
              <a:t>TIP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Before writing the body, write the first line: name, parameters, return type. Half the problem is solved there.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68096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D43B"/>
                </a:solidFill>
                <a:latin typeface="Trebuchet MS"/>
              </a:rPr>
              <a:t>PART 7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Trebuchet MS"/>
              </a:rPr>
              <a:t>Modules &amp; imports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9BDD1"/>
                </a:solidFill>
                <a:latin typeface="Trebuchet MS"/>
              </a:rPr>
              <a:t>Using code from other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03120"/>
            <a:ext cx="329184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D43B"/>
                </a:solidFill>
                <a:latin typeface="Trebuchet MS"/>
              </a:rPr>
              <a:t>IN THIS PART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`import math`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`from ... import ...`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`if __name__ == "__main__"`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IMPORT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Three ways to import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Modules &amp; imports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911533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2127"/>
                <a:gridCol w="2922732"/>
                <a:gridCol w="4286674"/>
              </a:tblGrid>
              <a:tr h="340156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Write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Then use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When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import math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math.sqrt(16)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default — clear where it comes from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from math import sqrt, pi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sqrt(16)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a few names, used often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4015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import random as rnd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rnd.randint(1, 6)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long module names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01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from math import *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sqrt(16)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avoid — you lose track of names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02336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4023360"/>
            <a:ext cx="64008" cy="7132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411480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62828"/>
                </a:solidFill>
                <a:latin typeface="Trebuchet MS"/>
              </a:rPr>
              <a:t>WATCH OUT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Imports go at the top of the file. Never name your own file </a:t>
            </a:r>
            <a:r>
              <a:rPr sz="1500" b="0">
                <a:solidFill>
                  <a:srgbClr val="3776AB"/>
                </a:solidFill>
                <a:latin typeface="Consolas"/>
              </a:rPr>
              <a:t>math.py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or </a:t>
            </a:r>
            <a:r>
              <a:rPr sz="1500" b="0">
                <a:solidFill>
                  <a:srgbClr val="3776AB"/>
                </a:solidFill>
                <a:latin typeface="Consolas"/>
              </a:rPr>
              <a:t>random.py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— it hides the real module.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THE GUARD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if __name__ == "__main__":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Modules &amp; imports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11535" cy="2043678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545775" cy="176935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def is_even(n: int) -&gt; bool: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return n % 2 == 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if __name__ == "__main__":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print(is_even(4))       # only when you run the file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print(is_even(7))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09054"/>
            <a:ext cx="10911535" cy="2308866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3776AB"/>
                </a:solidFill>
                <a:latin typeface="Consolas"/>
              </a:rPr>
              <a:t>uv run is_even.py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→ </a:t>
            </a:r>
            <a:r>
              <a:rPr sz="1800" b="0">
                <a:solidFill>
                  <a:srgbClr val="3776AB"/>
                </a:solidFill>
                <a:latin typeface="Consolas"/>
              </a:rPr>
              <a:t>__name__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is </a:t>
            </a:r>
            <a:r>
              <a:rPr sz="1800" b="0">
                <a:solidFill>
                  <a:srgbClr val="3776AB"/>
                </a:solidFill>
                <a:latin typeface="Consolas"/>
              </a:rPr>
              <a:t>"__main__"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, the block runs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the tests do </a:t>
            </a:r>
            <a:r>
              <a:rPr sz="1800" b="0">
                <a:solidFill>
                  <a:srgbClr val="3776AB"/>
                </a:solidFill>
                <a:latin typeface="Consolas"/>
              </a:rPr>
              <a:t>from is_even import is_even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→ the block is skipped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30352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303520"/>
            <a:ext cx="64008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539496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Trebuchet MS"/>
              </a:rPr>
              <a:t>REMEMBER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Put your own checks — and any </a:t>
            </a:r>
            <a:r>
              <a:rPr sz="1500" b="0">
                <a:solidFill>
                  <a:srgbClr val="3776AB"/>
                </a:solidFill>
                <a:latin typeface="Consolas"/>
              </a:rPr>
              <a:t>input()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— under the guard. Code at the top level runs on import and can break the tests.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WORKFLOW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How a function exercise is graded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How the exercises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11535" cy="1232151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545775" cy="957831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EA6BD"/>
                </a:solidFill>
                <a:latin typeface="Consolas"/>
              </a:rPr>
              <a:t># functions/is_even/is_even.py   &lt;- you create this file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def is_even(n: int) -&gt; bool: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return n % 2 ==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97527"/>
            <a:ext cx="10911535" cy="3120393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Read </a:t>
            </a:r>
            <a:r>
              <a:rPr sz="1800" b="0">
                <a:solidFill>
                  <a:srgbClr val="3776AB"/>
                </a:solidFill>
                <a:latin typeface="Consolas"/>
              </a:rPr>
              <a:t>is_even.md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: it gives the function's </a:t>
            </a:r>
            <a:r>
              <a:rPr sz="1800" b="1">
                <a:solidFill>
                  <a:srgbClr val="1E2A38"/>
                </a:solidFill>
                <a:latin typeface="Trebuchet MS"/>
              </a:rPr>
              <a:t>name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and </a:t>
            </a:r>
            <a:r>
              <a:rPr sz="1800" b="1">
                <a:solidFill>
                  <a:srgbClr val="1E2A38"/>
                </a:solidFill>
                <a:latin typeface="Trebuchet MS"/>
              </a:rPr>
              <a:t>parameters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The test imports your function and calls it with its own arguments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Name the file and the function exactly as in the statement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8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No </a:t>
            </a:r>
            <a:r>
              <a:rPr sz="1800" b="0">
                <a:solidFill>
                  <a:srgbClr val="3776AB"/>
                </a:solidFill>
                <a:latin typeface="Consolas"/>
              </a:rPr>
              <a:t>input()</a:t>
            </a:r>
            <a:r>
              <a:rPr sz="1800" b="0">
                <a:solidFill>
                  <a:srgbClr val="1E2A38"/>
                </a:solidFill>
                <a:latin typeface="Trebuchet MS"/>
              </a:rPr>
              <a:t> needed — values arrive as arguments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257800"/>
            <a:ext cx="10911535" cy="837437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5404104"/>
            <a:ext cx="10545775" cy="599693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A6672"/>
                </a:solidFill>
                <a:latin typeface="Trebuchet MS"/>
              </a:rPr>
              <a:t>CHECK 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uv run pytest functions/is_even/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9784080" cy="32918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400" b="1" i="0">
                <a:solidFill>
                  <a:srgbClr val="FFFFFF"/>
                </a:solidFill>
                <a:latin typeface="Trebuchet MS"/>
              </a:rPr>
              <a:t>Your turn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2200" b="0" i="0">
                <a:solidFill>
                  <a:srgbClr val="C3D3E1"/>
                </a:solidFill>
                <a:latin typeface="Trebuchet MS"/>
              </a:rPr>
              <a:t>Start with is_even and circle_area, then work down the table of contents.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8FB6D9"/>
                </a:solidFill>
                <a:latin typeface="Trebuchet MS"/>
              </a:rPr>
              <a:t>Before you write a function, answer three questions: what goes in, what comes out, and what is its name.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029200"/>
            <a:ext cx="9784080" cy="10972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FFD43B"/>
                </a:solidFill>
                <a:latin typeface="Trebuchet MS"/>
              </a:rPr>
              <a:t>uv run pytest functions/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D43B"/>
                </a:solidFill>
                <a:latin typeface="Trebuchet MS"/>
              </a:rPr>
              <a:t>Good luck  ·  see you soon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