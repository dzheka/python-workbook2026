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737360"/>
            <a:ext cx="9601200" cy="31089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FFD43B"/>
                </a:solidFill>
                <a:latin typeface="Trebuchet MS"/>
              </a:rPr>
              <a:t>CONDITIONALS MODULE  ·  PYTHON WORKBOOK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Trebuchet MS"/>
              </a:rPr>
              <a:t>Making Decisions</a:t>
            </a:r>
          </a:p>
          <a:p>
            <a:pPr algn="l">
              <a:spcBef>
                <a:spcPts val="0"/>
              </a:spcBef>
              <a:spcAft>
                <a:spcPts val="2200"/>
              </a:spcAft>
            </a:pPr>
            <a:r>
              <a:rPr sz="3000" b="0" i="0">
                <a:solidFill>
                  <a:srgbClr val="8FB6D9"/>
                </a:solidFill>
                <a:latin typeface="Trebuchet MS"/>
              </a:rPr>
              <a:t>if, elif, else — and everything they need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3D3E1"/>
                </a:solidFill>
                <a:latin typeface="Trebuchet MS"/>
              </a:rPr>
              <a:t>Your programs stop running in a straight line and start choosing what to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486400"/>
            <a:ext cx="9601200" cy="8229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E93A6"/>
                </a:solidFill>
                <a:latin typeface="Consolas"/>
              </a:rPr>
              <a:t>comparison_operators  ·  boolean_operators  ·  if_elif_else  ·  string_utils  ·  ascii_table  ·  match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What we will cover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66928" cy="566928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18488"/>
            <a:ext cx="9601200" cy="56692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1E2A38"/>
                </a:solidFill>
                <a:latin typeface="Trebuchet MS"/>
              </a:rPr>
              <a:t>Decisions in Everyday Life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72"/>
                </a:solidFill>
                <a:latin typeface="Trebuchet MS"/>
              </a:rPr>
              <a:t>From "if it rains, take an umbrella" to your first if statement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566928" cy="566928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304288"/>
            <a:ext cx="9601200" cy="56692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1E2A38"/>
                </a:solidFill>
                <a:latin typeface="Trebuchet MS"/>
              </a:rPr>
              <a:t>Comparison Operators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72"/>
                </a:solidFill>
                <a:latin typeface="Trebuchet MS"/>
              </a:rPr>
              <a:t>==  !=  &lt;  &lt;=  &gt;  &gt;=  and the True / False they produce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71800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566928" cy="566928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990088"/>
            <a:ext cx="9601200" cy="56692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1E2A38"/>
                </a:solidFill>
                <a:latin typeface="Trebuchet MS"/>
              </a:rPr>
              <a:t>Booleans: and, or, not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72"/>
                </a:solidFill>
                <a:latin typeface="Trebuchet MS"/>
              </a:rPr>
              <a:t>Truth tables, precedence, short-circuit evaluation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57600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566928" cy="566928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675888"/>
            <a:ext cx="9601200" cy="56692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1E2A38"/>
                </a:solidFill>
                <a:latin typeface="Trebuchet MS"/>
              </a:rPr>
              <a:t>if / elif / else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72"/>
                </a:solidFill>
                <a:latin typeface="Trebuchet MS"/>
              </a:rPr>
              <a:t>The workhorse of this chapter, plus nesting and order of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43400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566928" cy="566928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361688"/>
            <a:ext cx="9601200" cy="56692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1E2A38"/>
                </a:solidFill>
                <a:latin typeface="Trebuchet MS"/>
              </a:rPr>
              <a:t>Conditions on Text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72"/>
                </a:solidFill>
                <a:latin typeface="Trebuchet MS"/>
              </a:rPr>
              <a:t>Comparing letters and words, ord / chr, the ASCII table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29200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566928" cy="566928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rebuchet M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047488"/>
            <a:ext cx="9601200" cy="56692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1E2A38"/>
                </a:solidFill>
                <a:latin typeface="Trebuchet MS"/>
              </a:rPr>
              <a:t>The match Statement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72"/>
                </a:solidFill>
                <a:latin typeface="Trebuchet MS"/>
              </a:rPr>
              <a:t>Clean branching when one value has many possible answers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76072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760720"/>
            <a:ext cx="64008" cy="713232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585216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776AB"/>
                </a:solidFill>
                <a:latin typeface="Trebuchet MS"/>
              </a:rPr>
              <a:t>TIP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Everything here is written down in </a:t>
            </a:r>
            <a:r>
              <a:rPr sz="1500" b="0">
                <a:solidFill>
                  <a:srgbClr val="3776AB"/>
                </a:solidFill>
                <a:latin typeface="Consolas"/>
              </a:rPr>
              <a:t>conditionals/_docs/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— the slides are the guided tour, the docs are the reference.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68096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43B"/>
                </a:solidFill>
                <a:latin typeface="Trebuchet MS"/>
              </a:rPr>
              <a:t>PART 1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Decisions in Everyday Life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9BDD1"/>
                </a:solidFill>
                <a:latin typeface="Trebuchet MS"/>
              </a:rPr>
              <a:t>You already know how conditionals work — today you learn to write them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03120"/>
            <a:ext cx="329184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D43B"/>
                </a:solidFill>
                <a:latin typeface="Trebuchet MS"/>
              </a:rPr>
              <a:t>IN THIS PART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Straight-line programs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Decisions you make daily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One rule, three notations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Your first if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else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Indentation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THE PROBLEM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Where we are now: programs run in a straight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Decisions in Everyday Life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1232151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957831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radius = float(input())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area = 3.14159 * radius **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print(f"{area:.2f}")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7215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A6672"/>
                </a:solidFill>
                <a:latin typeface="Trebuchet MS"/>
              </a:rPr>
              <a:t>Every line runs, always, top to bottom. Nothing is ever skipped.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07839"/>
            <a:ext cx="10911535" cy="2910081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That is enough for a calculator, but not for a </a:t>
            </a:r>
            <a:r>
              <a:rPr sz="1800" b="1">
                <a:solidFill>
                  <a:srgbClr val="1E2A38"/>
                </a:solidFill>
                <a:latin typeface="Trebuchet MS"/>
              </a:rPr>
              <a:t>decision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This program cannot say "a negative radius makes no sense".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It cannot answer differently for different input — it only computes.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Today we let the program </a:t>
            </a:r>
            <a:r>
              <a:rPr sz="1800" b="1">
                <a:solidFill>
                  <a:srgbClr val="1E2A38"/>
                </a:solidFill>
                <a:latin typeface="Trebuchet MS"/>
              </a:rPr>
              <a:t>choose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which lines to run.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EVERYDAY LOGIC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You make dozens of these decisions before breakfast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Decisions in Everyday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6177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1300"/>
              </a:spcBef>
              <a:spcAft>
                <a:spcPts val="0"/>
              </a:spcAft>
            </a:pPr>
            <a:r>
              <a:rPr sz="20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2000" b="1">
                <a:solidFill>
                  <a:srgbClr val="1E2A38"/>
                </a:solidFill>
                <a:latin typeface="Trebuchet MS"/>
              </a:rPr>
              <a:t>If</a:t>
            </a:r>
            <a:r>
              <a:rPr sz="2000" b="0">
                <a:solidFill>
                  <a:srgbClr val="1E2A38"/>
                </a:solidFill>
                <a:latin typeface="Trebuchet MS"/>
              </a:rPr>
              <a:t> it is raining, take an umbrella. </a:t>
            </a:r>
            <a:r>
              <a:rPr sz="2000" b="1">
                <a:solidFill>
                  <a:srgbClr val="1E2A38"/>
                </a:solidFill>
                <a:latin typeface="Trebuchet MS"/>
              </a:rPr>
              <a:t>Otherwise</a:t>
            </a:r>
            <a:r>
              <a:rPr sz="2000" b="0">
                <a:solidFill>
                  <a:srgbClr val="1E2A38"/>
                </a:solidFill>
                <a:latin typeface="Trebuchet MS"/>
              </a:rPr>
              <a:t>, take sunglasses.</a:t>
            </a:r>
          </a:p>
          <a:p>
            <a:pPr algn="l">
              <a:spcBef>
                <a:spcPts val="1300"/>
              </a:spcBef>
              <a:spcAft>
                <a:spcPts val="0"/>
              </a:spcAft>
            </a:pPr>
            <a:r>
              <a:rPr sz="20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2000" b="1">
                <a:solidFill>
                  <a:srgbClr val="1E2A38"/>
                </a:solidFill>
                <a:latin typeface="Trebuchet MS"/>
              </a:rPr>
              <a:t>If</a:t>
            </a:r>
            <a:r>
              <a:rPr sz="2000" b="0">
                <a:solidFill>
                  <a:srgbClr val="1E2A38"/>
                </a:solidFill>
                <a:latin typeface="Trebuchet MS"/>
              </a:rPr>
              <a:t> the traffic light is green, cross the street. </a:t>
            </a:r>
            <a:r>
              <a:rPr sz="2000" b="1">
                <a:solidFill>
                  <a:srgbClr val="1E2A38"/>
                </a:solidFill>
                <a:latin typeface="Trebuchet MS"/>
              </a:rPr>
              <a:t>Otherwise</a:t>
            </a:r>
            <a:r>
              <a:rPr sz="2000" b="0">
                <a:solidFill>
                  <a:srgbClr val="1E2A38"/>
                </a:solidFill>
                <a:latin typeface="Trebuchet MS"/>
              </a:rPr>
              <a:t>, wait.</a:t>
            </a:r>
          </a:p>
          <a:p>
            <a:pPr algn="l">
              <a:spcBef>
                <a:spcPts val="1300"/>
              </a:spcBef>
              <a:spcAft>
                <a:spcPts val="0"/>
              </a:spcAft>
            </a:pPr>
            <a:r>
              <a:rPr sz="20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2000" b="1">
                <a:solidFill>
                  <a:srgbClr val="1E2A38"/>
                </a:solidFill>
                <a:latin typeface="Trebuchet MS"/>
              </a:rPr>
              <a:t>If</a:t>
            </a:r>
            <a:r>
              <a:rPr sz="2000" b="0">
                <a:solidFill>
                  <a:srgbClr val="1E2A38"/>
                </a:solidFill>
                <a:latin typeface="Trebuchet MS"/>
              </a:rPr>
              <a:t> you are 18 or older, you may vote.</a:t>
            </a:r>
          </a:p>
          <a:p>
            <a:pPr algn="l">
              <a:spcBef>
                <a:spcPts val="1300"/>
              </a:spcBef>
              <a:spcAft>
                <a:spcPts val="0"/>
              </a:spcAft>
            </a:pPr>
            <a:r>
              <a:rPr sz="20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2000" b="1">
                <a:solidFill>
                  <a:srgbClr val="1E2A38"/>
                </a:solidFill>
                <a:latin typeface="Trebuchet MS"/>
              </a:rPr>
              <a:t>If</a:t>
            </a:r>
            <a:r>
              <a:rPr sz="2000" b="0">
                <a:solidFill>
                  <a:srgbClr val="1E2A38"/>
                </a:solidFill>
                <a:latin typeface="Trebuchet MS"/>
              </a:rPr>
              <a:t> the bill is over 100 TJS, delivery is free.</a:t>
            </a:r>
          </a:p>
          <a:p>
            <a:pPr algn="l">
              <a:spcBef>
                <a:spcPts val="1300"/>
              </a:spcBef>
              <a:spcAft>
                <a:spcPts val="0"/>
              </a:spcAft>
            </a:pPr>
            <a:r>
              <a:rPr sz="20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2000" b="1">
                <a:solidFill>
                  <a:srgbClr val="1E2A38"/>
                </a:solidFill>
                <a:latin typeface="Trebuchet MS"/>
              </a:rPr>
              <a:t>If</a:t>
            </a:r>
            <a:r>
              <a:rPr sz="2000" b="0">
                <a:solidFill>
                  <a:srgbClr val="1E2A38"/>
                </a:solidFill>
                <a:latin typeface="Trebuchet MS"/>
              </a:rPr>
              <a:t> the bus is full, wait for the next one.</a:t>
            </a:r>
          </a:p>
          <a:p>
            <a:pPr algn="l">
              <a:spcBef>
                <a:spcPts val="1300"/>
              </a:spcBef>
              <a:spcAft>
                <a:spcPts val="0"/>
              </a:spcAft>
            </a:pPr>
            <a:r>
              <a:rPr sz="20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2000" b="1">
                <a:solidFill>
                  <a:srgbClr val="1E2A38"/>
                </a:solidFill>
                <a:latin typeface="Trebuchet MS"/>
              </a:rPr>
              <a:t>If</a:t>
            </a:r>
            <a:r>
              <a:rPr sz="2000" b="0">
                <a:solidFill>
                  <a:srgbClr val="1E2A38"/>
                </a:solidFill>
                <a:latin typeface="Trebuchet MS"/>
              </a:rPr>
              <a:t> your phone battery is under 20%, look for a charger.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12064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120640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521208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Each one has the same shape: a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question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with a yes/no answer, and a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different action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for each answer.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EVERYDAY LOGIC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The shape of a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Decisions in Everyday Life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20"/>
            <a:ext cx="2286000" cy="73152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 w="15875">
            <a:solidFill>
              <a:srgbClr val="C8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2286000" cy="7315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A38"/>
                </a:solidFill>
                <a:latin typeface="Trebuchet MS"/>
              </a:rPr>
              <a:t>Look outside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17520" y="2121408"/>
            <a:ext cx="457200" cy="237744"/>
          </a:xfrm>
          <a:prstGeom prst="rightArrow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3611880" y="1581912"/>
            <a:ext cx="2834640" cy="1316736"/>
          </a:xfrm>
          <a:prstGeom prst="diamond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581912"/>
            <a:ext cx="2834640" cy="1316736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A38"/>
                </a:solidFill>
                <a:latin typeface="Trebuchet MS"/>
              </a:rPr>
              <a:t>Is it
raining?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583680" y="2121408"/>
            <a:ext cx="548640" cy="237744"/>
          </a:xfrm>
          <a:prstGeom prst="right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6479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7D32"/>
                </a:solidFill>
                <a:latin typeface="Trebuchet MS"/>
              </a:rPr>
              <a:t>yes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1874520"/>
            <a:ext cx="3657600" cy="73152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 w="15875">
            <a:solidFill>
              <a:srgbClr val="C8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1874520"/>
            <a:ext cx="3657600" cy="7315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Trebuchet MS"/>
              </a:rPr>
              <a:t>Take an umbrella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910328" y="2953512"/>
            <a:ext cx="237744" cy="502920"/>
          </a:xfrm>
          <a:prstGeom prst="downArrow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3063240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62828"/>
                </a:solidFill>
                <a:latin typeface="Trebuchet MS"/>
              </a:rPr>
              <a:t>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3538728"/>
            <a:ext cx="3657600" cy="73152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 w="15875">
            <a:solidFill>
              <a:srgbClr val="C8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3538728"/>
            <a:ext cx="3657600" cy="7315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62828"/>
                </a:solidFill>
                <a:latin typeface="Trebuchet MS"/>
              </a:rPr>
              <a:t>Take sunglasses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98848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498848"/>
            <a:ext cx="64008" cy="713232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590288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776AB"/>
                </a:solidFill>
                <a:latin typeface="Trebuchet MS"/>
              </a:rPr>
              <a:t>TIP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A diamond is a question that can only be answered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yes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or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no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 Programmers call that answer a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boolean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EVERYDAY LOGIC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The same rule, written three 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Decisions in Everyday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911535" cy="3657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r>
              <a:rPr sz="1800" b="1">
                <a:solidFill>
                  <a:srgbClr val="1E2A38"/>
                </a:solidFill>
                <a:latin typeface="Trebuchet MS"/>
              </a:rPr>
              <a:t>In words: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if the person is 18 or older, they can vote; otherwise they cannot.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2286000" cy="73152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 w="15875">
            <a:solidFill>
              <a:srgbClr val="C8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2286000" cy="7315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A38"/>
                </a:solidFill>
                <a:latin typeface="Trebuchet MS"/>
              </a:rPr>
              <a:t>Read age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17520" y="2487168"/>
            <a:ext cx="457200" cy="237744"/>
          </a:xfrm>
          <a:prstGeom prst="rightArrow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3611880" y="1947672"/>
            <a:ext cx="2834640" cy="1316736"/>
          </a:xfrm>
          <a:prstGeom prst="diamond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947672"/>
            <a:ext cx="2834640" cy="1316736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A38"/>
                </a:solidFill>
                <a:latin typeface="Trebuchet MS"/>
              </a:rPr>
              <a:t>age &gt;= 18 ?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583680" y="2487168"/>
            <a:ext cx="548640" cy="237744"/>
          </a:xfrm>
          <a:prstGeom prst="right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305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7D32"/>
                </a:solidFill>
                <a:latin typeface="Trebuchet MS"/>
              </a:rPr>
              <a:t>yes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2240280"/>
            <a:ext cx="3657600" cy="73152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 w="15875">
            <a:solidFill>
              <a:srgbClr val="C8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2240280"/>
            <a:ext cx="3657600" cy="7315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Trebuchet MS"/>
              </a:rPr>
              <a:t>You can vote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910328" y="3319272"/>
            <a:ext cx="237744" cy="502920"/>
          </a:xfrm>
          <a:prstGeom prst="downArrow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3429000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62828"/>
                </a:solidFill>
                <a:latin typeface="Trebuchet MS"/>
              </a:rPr>
              <a:t>no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3904488"/>
            <a:ext cx="3657600" cy="73152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 w="15875">
            <a:solidFill>
              <a:srgbClr val="C8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3904488"/>
            <a:ext cx="3657600" cy="7315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62828"/>
                </a:solidFill>
                <a:latin typeface="Trebuchet MS"/>
              </a:rPr>
              <a:t>You cannot vote yet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64608"/>
            <a:ext cx="10911535" cy="1683004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047488"/>
            <a:ext cx="10545775" cy="1408684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age = int(input())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if age &gt;= 18: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print("You can vote")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else: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print("You cannot vote yet")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SYNTAX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Your first if statement, line by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Decisions in Everyday Life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1141984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867664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E8EEF4"/>
                </a:solidFill>
                <a:latin typeface="Consolas"/>
              </a:rPr>
              <a:t>if age &gt;= 18: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E8EEF4"/>
                </a:solidFill>
                <a:latin typeface="Consolas"/>
              </a:rPr>
              <a:t>    print("You can vote")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053080"/>
          <a:ext cx="10911534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8186"/>
                <a:gridCol w="4676372"/>
                <a:gridCol w="3896976"/>
              </a:tblGrid>
              <a:tr h="3401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Trebuchet MS"/>
                        </a:rPr>
                        <a:t>Part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Trebuchet MS"/>
                        </a:rPr>
                        <a:t>What it is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Trebuchet MS"/>
                        </a:rPr>
                        <a:t>Rule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if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The keyword that starts a decision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Always lowercase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age &gt;= 18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The condition — a yes/no question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Must evaluate to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or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: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Colon at the end of the line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Forgetting it is a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SyntaxError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01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    print(...)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The body — what to do if the answer is yes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Indented by 4 spaces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SYNTAX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Adding the other branch: else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Decisions in Everyday Life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2043678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176935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temperature = int(input())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if temperature &gt; 30: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print("Stay in the shade")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else: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print("Enjoy the weather")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63334"/>
            <a:ext cx="10911535" cy="1107946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4009638"/>
            <a:ext cx="10545775" cy="87020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RUN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35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Stay in the shade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190736"/>
            <a:ext cx="10911535" cy="1107946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5337040"/>
            <a:ext cx="10545775" cy="87020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RUN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22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Enjoy the weather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SYNTAX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Indentation is not decoration — it is the block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Decisions in Everyday Life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1502660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12283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if score &gt; 90: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print("Excellent")      # inside the if: only for score &gt; 90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print("Well done")      # also inside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print("Goodbye")            # outside: printed every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22316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322316"/>
            <a:ext cx="64008" cy="7132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413756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2828"/>
                </a:solidFill>
                <a:latin typeface="Trebuchet MS"/>
              </a:rPr>
              <a:t>WATCH OUT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Other languages use braces. Python uses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spaces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, so wrong indentation silently changes what your program means.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64148"/>
            <a:ext cx="10911535" cy="195377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7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700" b="0">
                <a:solidFill>
                  <a:srgbClr val="1E2A38"/>
                </a:solidFill>
                <a:latin typeface="Trebuchet MS"/>
              </a:rPr>
              <a:t>Use </a:t>
            </a:r>
            <a:r>
              <a:rPr sz="1700" b="1">
                <a:solidFill>
                  <a:srgbClr val="1E2A38"/>
                </a:solidFill>
                <a:latin typeface="Trebuchet MS"/>
              </a:rPr>
              <a:t>4 spaces</a:t>
            </a:r>
            <a:r>
              <a:rPr sz="1700" b="0">
                <a:solidFill>
                  <a:srgbClr val="1E2A38"/>
                </a:solidFill>
                <a:latin typeface="Trebuchet MS"/>
              </a:rPr>
              <a:t> per level. Let your editor insert them with Tab.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7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700" b="0">
                <a:solidFill>
                  <a:srgbClr val="1E2A38"/>
                </a:solidFill>
                <a:latin typeface="Trebuchet MS"/>
              </a:rPr>
              <a:t>Never mix tabs and spaces in one file — Python will refuse to run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68096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43B"/>
                </a:solidFill>
                <a:latin typeface="Trebuchet MS"/>
              </a:rPr>
              <a:t>PART 2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Comparison Operators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9BDD1"/>
                </a:solidFill>
                <a:latin typeface="Trebuchet MS"/>
              </a:rPr>
              <a:t>The six questions you can ask about two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03120"/>
            <a:ext cx="329184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D43B"/>
                </a:solidFill>
                <a:latin typeface="Trebuchet MS"/>
              </a:rPr>
              <a:t>IN THIS PART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The six operators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Results are booleans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= vs ==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Comparing text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Chained comparisons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OPERATORS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The six comparison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Comparison Operators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911533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697"/>
                <a:gridCol w="3357395"/>
                <a:gridCol w="5875441"/>
              </a:tblGrid>
              <a:tr h="33702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Operator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Name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Returns `True` when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==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Equal to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Both values are equal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!=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Not equal to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The values are different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&lt;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Less than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The left value is smaller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&lt;=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Less than or equal to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The left value is smaller or the same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&gt;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Greater than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The left value is bigger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702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&gt;=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Greater than or equal to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The left value is bigger or the same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48056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480560"/>
            <a:ext cx="64008" cy="7132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57200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2828"/>
                </a:solidFill>
                <a:latin typeface="Trebuchet MS"/>
              </a:rPr>
              <a:t>WATCH OUT</a:t>
            </a:r>
          </a:p>
          <a:p>
            <a:r>
              <a:rPr sz="1500" b="0">
                <a:solidFill>
                  <a:srgbClr val="3776AB"/>
                </a:solidFill>
                <a:latin typeface="Consolas"/>
              </a:rPr>
              <a:t>&lt;=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and </a:t>
            </a:r>
            <a:r>
              <a:rPr sz="1500" b="0">
                <a:solidFill>
                  <a:srgbClr val="3776AB"/>
                </a:solidFill>
                <a:latin typeface="Consolas"/>
              </a:rPr>
              <a:t>&gt;=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are written in that order, and never with a space in between.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OPERATORS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Every comparison is worth seeing for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Comparison Operators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911533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8790"/>
                <a:gridCol w="5455767"/>
                <a:gridCol w="3896976"/>
              </a:tblGrid>
              <a:tr h="33702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Trebuchet MS"/>
                        </a:rPr>
                        <a:t>Operator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Trebuchet MS"/>
                        </a:rPr>
                        <a:t>Example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Trebuchet MS"/>
                        </a:rPr>
                        <a:t>Result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==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5 == 5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5 == 3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"hi" == "hi"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False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!=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5 != 3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5 != 5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"hi" != "ho"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False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&lt;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3 &lt; 5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5 &lt; 3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5 &lt; 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False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&lt;=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3 &lt;= 5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5 &lt;= 5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7 &lt;= 5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&gt;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5 &gt; 3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3 &gt; 5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5 &gt; 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False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702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&gt;=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5 &gt;= 3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5 &gt;= 5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3 &gt;= 5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66344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663440"/>
            <a:ext cx="64008" cy="713232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75488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776AB"/>
                </a:solidFill>
                <a:latin typeface="Trebuchet MS"/>
              </a:rPr>
              <a:t>TIP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Type them into Python yourself. Two minutes at the interpreter beats ten minutes of staring at a table.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BOOLEANS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A condition is a value you can 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Comparison Operators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2043678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176935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print(5 &gt; 3)            # True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print(5 &lt; 3)            # False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print(type(5 &gt; 3))      # &lt;class 'bool'&gt;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is_adult = age &gt;= 18    # store the answer in a variable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print(is_adult)         # True or False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54774"/>
            <a:ext cx="10911535" cy="226314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A comparison does not print anything — it </a:t>
            </a:r>
            <a:r>
              <a:rPr sz="1800" b="1">
                <a:solidFill>
                  <a:srgbClr val="1E2A38"/>
                </a:solidFill>
                <a:latin typeface="Trebuchet MS"/>
              </a:rPr>
              <a:t>produces a value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That value has its own type: </a:t>
            </a:r>
            <a:r>
              <a:rPr sz="1800" b="0">
                <a:solidFill>
                  <a:srgbClr val="3776AB"/>
                </a:solidFill>
                <a:latin typeface="Consolas"/>
              </a:rPr>
              <a:t>bool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, with exactly two members.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3776AB"/>
                </a:solidFill>
                <a:latin typeface="Consolas"/>
              </a:rPr>
              <a:t>if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simply looks at that value and decides whether to run the body.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BOOLEANS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The classic beginner bug: `=` vs `==`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Comparison Operators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1773169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1498849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age = 18        # assignment: put 18 into the variable age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age == 18       # question: is age equal to 18?  -&gt; True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if age = 18:    # SyntaxError: Python refuses this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if age == 18:   # correct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92825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592825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684265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Read </a:t>
            </a:r>
            <a:r>
              <a:rPr sz="1500" b="0">
                <a:solidFill>
                  <a:srgbClr val="3776AB"/>
                </a:solidFill>
                <a:latin typeface="Consolas"/>
              </a:rPr>
              <a:t>=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as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becomes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and </a:t>
            </a:r>
            <a:r>
              <a:rPr sz="1500" b="0">
                <a:solidFill>
                  <a:srgbClr val="3776AB"/>
                </a:solidFill>
                <a:latin typeface="Consolas"/>
              </a:rPr>
              <a:t>==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as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is equal to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 Say it out loud while you type — it works.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OPERATORS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Comparing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Comparison Operators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2187956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191363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print("cat" == "cat")      # True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print("Cat" == "cat")      # False  - capital C is a different character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print("apple" &lt; "banana")  # True   - alphabetical order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month = input().lower()   # so "March", "MARCH" and "march" all match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if month == "march":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print("Spring is close")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007612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007612"/>
            <a:ext cx="64008" cy="713232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4099052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776AB"/>
                </a:solidFill>
                <a:latin typeface="Trebuchet MS"/>
              </a:rPr>
              <a:t>TIP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Users type what they like. Normalising with </a:t>
            </a:r>
            <a:r>
              <a:rPr sz="1500" b="0">
                <a:solidFill>
                  <a:srgbClr val="3776AB"/>
                </a:solidFill>
                <a:latin typeface="Consolas"/>
              </a:rPr>
              <a:t>.lower()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before comparing saves you from a dozen </a:t>
            </a:r>
            <a:r>
              <a:rPr sz="1500" b="0">
                <a:solidFill>
                  <a:srgbClr val="3776AB"/>
                </a:solidFill>
                <a:latin typeface="Consolas"/>
              </a:rPr>
              <a:t>elif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branches.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OPERATORS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Chained comparisons: ranges the readable 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Comparison Operators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2314187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2039867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EA6BD"/>
                </a:solidFill>
                <a:latin typeface="Consolas"/>
              </a:rPr>
              <a:t># Is the BMI in the normal range?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if 18.5 &lt;= bmi &lt; 25.0: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print("Normal weight")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EA6BD"/>
                </a:solidFill>
                <a:latin typeface="Consolas"/>
              </a:rPr>
              <a:t># The same thing spelled out (Part 3 explains `and`)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if bmi &gt;= 18.5 and bmi &lt; 25.0: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print("Normal weight")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25283"/>
            <a:ext cx="10911535" cy="1992637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7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700" b="0">
                <a:solidFill>
                  <a:srgbClr val="1E2A38"/>
                </a:solidFill>
                <a:latin typeface="Trebuchet MS"/>
              </a:rPr>
              <a:t>Python lets you write a range exactly as it looks in mathematics.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7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700" b="0">
                <a:solidFill>
                  <a:srgbClr val="3776AB"/>
                </a:solidFill>
                <a:latin typeface="Consolas"/>
              </a:rPr>
              <a:t>18.5 &lt;= bmi &lt; 25.0</a:t>
            </a:r>
            <a:r>
              <a:rPr sz="1700" b="0">
                <a:solidFill>
                  <a:srgbClr val="1E2A38"/>
                </a:solidFill>
                <a:latin typeface="Trebuchet MS"/>
              </a:rPr>
              <a:t> includes 18.5 and excludes 25.0 — read the table in the task carefully.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7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700" b="0">
                <a:solidFill>
                  <a:srgbClr val="1E2A38"/>
                </a:solidFill>
                <a:latin typeface="Trebuchet MS"/>
              </a:rPr>
              <a:t>Most exercises in this chapter are built from ranges like this 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68096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43B"/>
                </a:solidFill>
                <a:latin typeface="Trebuchet MS"/>
              </a:rPr>
              <a:t>PART 3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Booleans: and, or, not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9BDD1"/>
                </a:solidFill>
                <a:latin typeface="Trebuchet MS"/>
              </a:rPr>
              <a:t>Building bigger questions out of small 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03120"/>
            <a:ext cx="329184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D43B"/>
                </a:solidFill>
                <a:latin typeface="Trebuchet MS"/>
              </a:rPr>
              <a:t>IN THIS PART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The bool type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and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or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not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Precedence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Short-circuit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BOOL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The boolean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Booleans: and, or,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6177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9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900" b="0">
                <a:solidFill>
                  <a:srgbClr val="3776AB"/>
                </a:solidFill>
                <a:latin typeface="Consolas"/>
              </a:rPr>
              <a:t>bool</a:t>
            </a:r>
            <a:r>
              <a:rPr sz="1900" b="0">
                <a:solidFill>
                  <a:srgbClr val="1E2A38"/>
                </a:solidFill>
                <a:latin typeface="Trebuchet MS"/>
              </a:rPr>
              <a:t> has only </a:t>
            </a:r>
            <a:r>
              <a:rPr sz="1900" b="1">
                <a:solidFill>
                  <a:srgbClr val="1E2A38"/>
                </a:solidFill>
                <a:latin typeface="Trebuchet MS"/>
              </a:rPr>
              <a:t>two</a:t>
            </a:r>
            <a:r>
              <a:rPr sz="1900" b="0">
                <a:solidFill>
                  <a:srgbClr val="1E2A38"/>
                </a:solidFill>
                <a:latin typeface="Trebuchet MS"/>
              </a:rPr>
              <a:t> values: </a:t>
            </a:r>
            <a:r>
              <a:rPr sz="1900" b="0">
                <a:solidFill>
                  <a:srgbClr val="3776AB"/>
                </a:solidFill>
                <a:latin typeface="Consolas"/>
              </a:rPr>
              <a:t>True</a:t>
            </a:r>
            <a:r>
              <a:rPr sz="1900" b="0">
                <a:solidFill>
                  <a:srgbClr val="1E2A38"/>
                </a:solidFill>
                <a:latin typeface="Trebuchet MS"/>
              </a:rPr>
              <a:t> and </a:t>
            </a:r>
            <a:r>
              <a:rPr sz="1900" b="0">
                <a:solidFill>
                  <a:srgbClr val="3776AB"/>
                </a:solidFill>
                <a:latin typeface="Consolas"/>
              </a:rPr>
              <a:t>False</a:t>
            </a:r>
            <a:r>
              <a:rPr sz="1900" b="0">
                <a:solidFill>
                  <a:srgbClr val="1E2A38"/>
                </a:solidFill>
                <a:latin typeface="Trebuchet MS"/>
              </a:rPr>
              <a:t>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9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900" b="0">
                <a:solidFill>
                  <a:srgbClr val="1E2A38"/>
                </a:solidFill>
                <a:latin typeface="Trebuchet MS"/>
              </a:rPr>
              <a:t>Capital </a:t>
            </a:r>
            <a:r>
              <a:rPr sz="1900" b="0">
                <a:solidFill>
                  <a:srgbClr val="3776AB"/>
                </a:solidFill>
                <a:latin typeface="Consolas"/>
              </a:rPr>
              <a:t>T</a:t>
            </a:r>
            <a:r>
              <a:rPr sz="1900" b="0">
                <a:solidFill>
                  <a:srgbClr val="1E2A38"/>
                </a:solidFill>
                <a:latin typeface="Trebuchet MS"/>
              </a:rPr>
              <a:t> and capital </a:t>
            </a:r>
            <a:r>
              <a:rPr sz="1900" b="0">
                <a:solidFill>
                  <a:srgbClr val="3776AB"/>
                </a:solidFill>
                <a:latin typeface="Consolas"/>
              </a:rPr>
              <a:t>F</a:t>
            </a:r>
            <a:r>
              <a:rPr sz="1900" b="0">
                <a:solidFill>
                  <a:srgbClr val="1E2A38"/>
                </a:solidFill>
                <a:latin typeface="Trebuchet MS"/>
              </a:rPr>
              <a:t> — </a:t>
            </a:r>
            <a:r>
              <a:rPr sz="1900" b="0">
                <a:solidFill>
                  <a:srgbClr val="3776AB"/>
                </a:solidFill>
                <a:latin typeface="Consolas"/>
              </a:rPr>
              <a:t>true</a:t>
            </a:r>
            <a:r>
              <a:rPr sz="1900" b="0">
                <a:solidFill>
                  <a:srgbClr val="1E2A38"/>
                </a:solidFill>
                <a:latin typeface="Trebuchet MS"/>
              </a:rPr>
              <a:t> is not a Python keyword.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9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900" b="0">
                <a:solidFill>
                  <a:srgbClr val="1E2A38"/>
                </a:solidFill>
                <a:latin typeface="Trebuchet MS"/>
              </a:rPr>
              <a:t>Every comparison produces one of them.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9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900" b="0">
                <a:solidFill>
                  <a:srgbClr val="3776AB"/>
                </a:solidFill>
                <a:latin typeface="Consolas"/>
              </a:rPr>
              <a:t>and</a:t>
            </a:r>
            <a:r>
              <a:rPr sz="1900" b="0">
                <a:solidFill>
                  <a:srgbClr val="1E2A38"/>
                </a:solidFill>
                <a:latin typeface="Trebuchet MS"/>
              </a:rPr>
              <a:t>, </a:t>
            </a:r>
            <a:r>
              <a:rPr sz="1900" b="0">
                <a:solidFill>
                  <a:srgbClr val="3776AB"/>
                </a:solidFill>
                <a:latin typeface="Consolas"/>
              </a:rPr>
              <a:t>or</a:t>
            </a:r>
            <a:r>
              <a:rPr sz="1900" b="0">
                <a:solidFill>
                  <a:srgbClr val="1E2A38"/>
                </a:solidFill>
                <a:latin typeface="Trebuchet MS"/>
              </a:rPr>
              <a:t> and </a:t>
            </a:r>
            <a:r>
              <a:rPr sz="1900" b="0">
                <a:solidFill>
                  <a:srgbClr val="3776AB"/>
                </a:solidFill>
                <a:latin typeface="Consolas"/>
              </a:rPr>
              <a:t>not</a:t>
            </a:r>
            <a:r>
              <a:rPr sz="1900" b="0">
                <a:solidFill>
                  <a:srgbClr val="1E2A38"/>
                </a:solidFill>
                <a:latin typeface="Trebuchet MS"/>
              </a:rPr>
              <a:t> combine them into more complex conditions.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66160"/>
            <a:ext cx="10911535" cy="1773169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749040"/>
            <a:ext cx="10545775" cy="1498849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raining = True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cold = False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print(raining and cold)   # False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print(raining or cold)    # True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print(not raining)        # False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558785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558785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5650225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These three words are the whole vocabulary. Everything else is combination.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AND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and — true only when both are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Booleans: and, or, not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4754880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2377440"/>
              </a:tblGrid>
              <a:tr h="3401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A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B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`A and B`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01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760720" y="1600200"/>
            <a:ext cx="5790895" cy="2061718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61888" y="1783080"/>
            <a:ext cx="5425135" cy="178739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EA6BD"/>
                </a:solidFill>
                <a:latin typeface="Consolas"/>
              </a:rPr>
              <a:t># A triangle is valid only if all three conditions hold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if a + b &gt; c and a + c &gt; b and b + c &gt; a: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print("valid triangle")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EA6BD"/>
                </a:solidFill>
                <a:latin typeface="Consolas"/>
              </a:rPr>
              <a:t># You may enter only with a ticket AND an 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if has_ticket and has_id: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print("Welcome")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20624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206240"/>
            <a:ext cx="64008" cy="713232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429768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776AB"/>
                </a:solidFill>
                <a:latin typeface="Trebuchet MS"/>
              </a:rPr>
              <a:t>TIP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Think of </a:t>
            </a:r>
            <a:r>
              <a:rPr sz="1500" b="0">
                <a:solidFill>
                  <a:srgbClr val="3776AB"/>
                </a:solidFill>
                <a:latin typeface="Consolas"/>
              </a:rPr>
              <a:t>and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as a checklist: one unticked box and the whole condition is </a:t>
            </a:r>
            <a:r>
              <a:rPr sz="1500" b="0">
                <a:solidFill>
                  <a:srgbClr val="3776AB"/>
                </a:solidFill>
                <a:latin typeface="Consolas"/>
              </a:rPr>
              <a:t>False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or — true when at least one is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Booleans: and, or, not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4754880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2377440"/>
              </a:tblGrid>
              <a:tr h="3401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A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B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`A or B`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01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760720" y="1600200"/>
            <a:ext cx="5790895" cy="2061718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61888" y="1783080"/>
            <a:ext cx="5425135" cy="178739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EA6BD"/>
                </a:solidFill>
                <a:latin typeface="Consolas"/>
              </a:rPr>
              <a:t># Two of the three sides equal -&gt; isosceles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if a == b or a == c or b == c: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print("isosceles")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EA6BD"/>
                </a:solidFill>
                <a:latin typeface="Consolas"/>
              </a:rPr>
              <a:t># Weekend: Saturday or Sunday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if day == "saturday" or day == "sunday":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print("No classes today")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20624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206240"/>
            <a:ext cx="64008" cy="7132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429768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2828"/>
                </a:solidFill>
                <a:latin typeface="Trebuchet MS"/>
              </a:rPr>
              <a:t>WATCH OUT</a:t>
            </a:r>
          </a:p>
          <a:p>
            <a:r>
              <a:rPr sz="1500" b="0">
                <a:solidFill>
                  <a:srgbClr val="3776AB"/>
                </a:solidFill>
                <a:latin typeface="Consolas"/>
              </a:rPr>
              <a:t>or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in Python is the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inclusive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or: "tea or coffee" here also allows both.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NOT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not — flip 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Booleans: and, or, not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3840480" cy="1042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</a:tblGrid>
              <a:tr h="34747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A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`not A`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3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846320" y="1600200"/>
            <a:ext cx="6705295" cy="1935480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47488" y="1783080"/>
            <a:ext cx="6339535" cy="16611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if not is_open: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print("Come back tomorrow")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EA6BD"/>
                </a:solidFill>
                <a:latin typeface="Consolas"/>
              </a:rPr>
              <a:t># Often the clearer form is the positive one: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if is_closed: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print("Come back tomorrow")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931920"/>
            <a:ext cx="64008" cy="7132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402336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2828"/>
                </a:solidFill>
                <a:latin typeface="Trebuchet MS"/>
              </a:rPr>
              <a:t>WATCH OUT</a:t>
            </a:r>
          </a:p>
          <a:p>
            <a:r>
              <a:rPr sz="1500" b="0">
                <a:solidFill>
                  <a:srgbClr val="3776AB"/>
                </a:solidFill>
                <a:latin typeface="Consolas"/>
              </a:rPr>
              <a:t>not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is useful, but a condition with two or three </a:t>
            </a:r>
            <a:r>
              <a:rPr sz="1500" b="0">
                <a:solidFill>
                  <a:srgbClr val="3776AB"/>
                </a:solidFill>
                <a:latin typeface="Consolas"/>
              </a:rPr>
              <a:t>not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s in it is a condition nobody can read — including you, next week.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PRECEDENCE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Precedence: which operator goes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Booleans: and, or, not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91153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8186"/>
                <a:gridCol w="2338186"/>
                <a:gridCol w="6235162"/>
              </a:tblGrid>
              <a:tr h="3429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Order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Operator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Meaning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1 (highest)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not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Applied to the value right after it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and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Binds tighter than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or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3 (lowest)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or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Applied last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3200400"/>
            <a:ext cx="10911535" cy="1502660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383280"/>
            <a:ext cx="10545775" cy="12283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result = not True or False and True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print(result)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EA6BD"/>
                </a:solidFill>
                <a:latin typeface="Consolas"/>
              </a:rPr>
              <a:t># Is evaluated as: (not True) or (False and True)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EA6BD"/>
                </a:solidFill>
                <a:latin typeface="Consolas"/>
              </a:rPr>
              <a:t># Result: False or False -&gt; False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922516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922516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5013956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Do not memorise the table — add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brackets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 </a:t>
            </a:r>
            <a:r>
              <a:rPr sz="1500" b="0">
                <a:solidFill>
                  <a:srgbClr val="3776AB"/>
                </a:solidFill>
                <a:latin typeface="Consolas"/>
              </a:rPr>
              <a:t>(not raining) and (temperature &gt; 20)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is never ambiguous.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SHORT-CIRCUIT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Short-circuit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Booleans: and, or,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6177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Python reads a condition left to right and stops as soon as the answer is certain.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3776AB"/>
                </a:solidFill>
                <a:latin typeface="Consolas"/>
              </a:rPr>
              <a:t>and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: stops if the left side is </a:t>
            </a:r>
            <a:r>
              <a:rPr sz="1800" b="0">
                <a:solidFill>
                  <a:srgbClr val="3776AB"/>
                </a:solidFill>
                <a:latin typeface="Consolas"/>
              </a:rPr>
              <a:t>False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— the rest cannot change the outcome.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3776AB"/>
                </a:solidFill>
                <a:latin typeface="Consolas"/>
              </a:rPr>
              <a:t>or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: stops if the left side is </a:t>
            </a:r>
            <a:r>
              <a:rPr sz="1800" b="0">
                <a:solidFill>
                  <a:srgbClr val="3776AB"/>
                </a:solidFill>
                <a:latin typeface="Consolas"/>
              </a:rPr>
              <a:t>True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— it is already satisfied.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83280"/>
            <a:ext cx="10911535" cy="1683004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566160"/>
            <a:ext cx="10545775" cy="1408684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x = 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if x != 0 and (10 / x) &gt; 1: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print("Valid")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EA6BD"/>
                </a:solidFill>
                <a:latin typeface="Consolas"/>
              </a:rPr>
              <a:t># x != 0 is False, so Python stops and never attempts 10 / x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EA6BD"/>
                </a:solidFill>
                <a:latin typeface="Consolas"/>
              </a:rPr>
              <a:t># Without short-circuiting, this would crash with ZeroDivisionError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28574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285740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537718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This is why the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guard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goes first: check that a value is safe before you use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68096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43B"/>
                </a:solidFill>
                <a:latin typeface="Trebuchet MS"/>
              </a:rPr>
              <a:t>PART 4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if / elif / else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9BDD1"/>
                </a:solidFill>
                <a:latin typeface="Trebuchet MS"/>
              </a:rPr>
              <a:t>One question, two questions, many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03120"/>
            <a:ext cx="329184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D43B"/>
                </a:solidFill>
                <a:latin typeface="Trebuchet MS"/>
              </a:rPr>
              <a:t>IN THIS PART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The three shapes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Worked examples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Order of checks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elif vs many ifs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Nesting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STRUCTURE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Shape 1 and 2: if, and if / else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if / elif / else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2855205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2580885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EA6BD"/>
                </a:solidFill>
                <a:latin typeface="Consolas"/>
              </a:rPr>
              <a:t># 1. if        - do something, or nothing at all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if temperature &gt; 30: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print("Hot day")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EA6BD"/>
                </a:solidFill>
                <a:latin typeface="Consolas"/>
              </a:rPr>
              <a:t># 2. if / else - exactly one of two branches runs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if age &gt;= 18: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print("You can vote")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else: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print("You cannot vote yet")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74861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674861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4766301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A lone </a:t>
            </a:r>
            <a:r>
              <a:rPr sz="1500" b="0">
                <a:solidFill>
                  <a:srgbClr val="3776AB"/>
                </a:solidFill>
                <a:latin typeface="Consolas"/>
              </a:rPr>
              <a:t>if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may do nothing at all. An </a:t>
            </a:r>
            <a:r>
              <a:rPr sz="1500" b="0">
                <a:solidFill>
                  <a:srgbClr val="3776AB"/>
                </a:solidFill>
                <a:latin typeface="Consolas"/>
              </a:rPr>
              <a:t>if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/ </a:t>
            </a:r>
            <a:r>
              <a:rPr sz="1500" b="0">
                <a:solidFill>
                  <a:srgbClr val="3776AB"/>
                </a:solidFill>
                <a:latin typeface="Consolas"/>
              </a:rPr>
              <a:t>else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always does exactly one of the two things.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16693"/>
            <a:ext cx="10911535" cy="601227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7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700" b="0">
                <a:solidFill>
                  <a:srgbClr val="1E2A38"/>
                </a:solidFill>
                <a:latin typeface="Trebuchet MS"/>
              </a:rPr>
              <a:t>Use a lone </a:t>
            </a:r>
            <a:r>
              <a:rPr sz="1700" b="0">
                <a:solidFill>
                  <a:srgbClr val="3776AB"/>
                </a:solidFill>
                <a:latin typeface="Consolas"/>
              </a:rPr>
              <a:t>if</a:t>
            </a:r>
            <a:r>
              <a:rPr sz="1700" b="0">
                <a:solidFill>
                  <a:srgbClr val="1E2A38"/>
                </a:solidFill>
                <a:latin typeface="Trebuchet MS"/>
              </a:rPr>
              <a:t> when "nothing happens" is a valid outcome.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7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700" b="0">
                <a:solidFill>
                  <a:srgbClr val="1E2A38"/>
                </a:solidFill>
                <a:latin typeface="Trebuchet MS"/>
              </a:rPr>
              <a:t>Use </a:t>
            </a:r>
            <a:r>
              <a:rPr sz="1700" b="0">
                <a:solidFill>
                  <a:srgbClr val="3776AB"/>
                </a:solidFill>
                <a:latin typeface="Consolas"/>
              </a:rPr>
              <a:t>if</a:t>
            </a:r>
            <a:r>
              <a:rPr sz="1700" b="0">
                <a:solidFill>
                  <a:srgbClr val="1E2A38"/>
                </a:solidFill>
                <a:latin typeface="Trebuchet MS"/>
              </a:rPr>
              <a:t> / </a:t>
            </a:r>
            <a:r>
              <a:rPr sz="1700" b="0">
                <a:solidFill>
                  <a:srgbClr val="3776AB"/>
                </a:solidFill>
                <a:latin typeface="Consolas"/>
              </a:rPr>
              <a:t>else</a:t>
            </a:r>
            <a:r>
              <a:rPr sz="1700" b="0">
                <a:solidFill>
                  <a:srgbClr val="1E2A38"/>
                </a:solidFill>
                <a:latin typeface="Trebuchet MS"/>
              </a:rPr>
              <a:t> when the task always expects some output.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STRUCTURE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Shape 3: if / elif / else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if / elif / else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2314187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2039867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EA6BD"/>
                </a:solidFill>
                <a:latin typeface="Consolas"/>
              </a:rPr>
              <a:t># pick one branch out of many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if num &gt; 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print("positive")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elif num &lt; 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print("negative")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else: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print("zero")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843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133843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4225283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3776AB"/>
                </a:solidFill>
                <a:latin typeface="Consolas"/>
              </a:rPr>
              <a:t>elif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is short for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else if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 You may write as many </a:t>
            </a:r>
            <a:r>
              <a:rPr sz="1500" b="0">
                <a:solidFill>
                  <a:srgbClr val="3776AB"/>
                </a:solidFill>
                <a:latin typeface="Consolas"/>
              </a:rPr>
              <a:t>elif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branches as you need; </a:t>
            </a:r>
            <a:r>
              <a:rPr sz="1500" b="0">
                <a:solidFill>
                  <a:srgbClr val="3776AB"/>
                </a:solidFill>
                <a:latin typeface="Consolas"/>
              </a:rPr>
              <a:t>else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is optional and comes last.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75675"/>
            <a:ext cx="10911535" cy="1142245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7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700" b="0">
                <a:solidFill>
                  <a:srgbClr val="1E2A38"/>
                </a:solidFill>
                <a:latin typeface="Trebuchet MS"/>
              </a:rPr>
              <a:t>Python checks the branches </a:t>
            </a:r>
            <a:r>
              <a:rPr sz="1700" b="1">
                <a:solidFill>
                  <a:srgbClr val="1E2A38"/>
                </a:solidFill>
                <a:latin typeface="Trebuchet MS"/>
              </a:rPr>
              <a:t>top to bottom</a:t>
            </a:r>
            <a:r>
              <a:rPr sz="1700" b="0">
                <a:solidFill>
                  <a:srgbClr val="1E2A38"/>
                </a:solidFill>
                <a:latin typeface="Trebuchet MS"/>
              </a:rPr>
              <a:t> and takes the first </a:t>
            </a:r>
            <a:r>
              <a:rPr sz="1700" b="0">
                <a:solidFill>
                  <a:srgbClr val="3776AB"/>
                </a:solidFill>
                <a:latin typeface="Consolas"/>
              </a:rPr>
              <a:t>True</a:t>
            </a:r>
            <a:r>
              <a:rPr sz="1700" b="0">
                <a:solidFill>
                  <a:srgbClr val="1E2A38"/>
                </a:solidFill>
                <a:latin typeface="Trebuchet MS"/>
              </a:rPr>
              <a:t> one.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7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700" b="0">
                <a:solidFill>
                  <a:srgbClr val="1E2A38"/>
                </a:solidFill>
                <a:latin typeface="Trebuchet MS"/>
              </a:rPr>
              <a:t>Everything below the winning branch is skipped, even if it is also true.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7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700" b="0">
                <a:solidFill>
                  <a:srgbClr val="3776AB"/>
                </a:solidFill>
                <a:latin typeface="Consolas"/>
              </a:rPr>
              <a:t>else</a:t>
            </a:r>
            <a:r>
              <a:rPr sz="1700" b="0">
                <a:solidFill>
                  <a:srgbClr val="1E2A38"/>
                </a:solidFill>
                <a:latin typeface="Trebuchet MS"/>
              </a:rPr>
              <a:t> is the catch-all: it runs when nothing above it matched.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WORKED EXAMPLE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Example 1: can a person vote?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if / elif / else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2584696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231037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EA6BD"/>
                </a:solidFill>
                <a:latin typeface="Consolas"/>
              </a:rPr>
              <a:t># Read age from user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age = int(input("Enter your age: "))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EA6BD"/>
                </a:solidFill>
                <a:latin typeface="Consolas"/>
              </a:rPr>
              <a:t># Check if eligible to vote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if age &gt;= 18: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print("You can vote")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else: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print("You cannot vote yet")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04352"/>
            <a:ext cx="10911535" cy="1107946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4550656"/>
            <a:ext cx="10545775" cy="87020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17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You cannot vote yet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731754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731754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5823194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Exactly one of the two </a:t>
            </a:r>
            <a:r>
              <a:rPr sz="1500" b="0">
                <a:solidFill>
                  <a:srgbClr val="3776AB"/>
                </a:solidFill>
                <a:latin typeface="Consolas"/>
              </a:rPr>
              <a:t>print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calls runs — never both, never neither.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WORKED EXAMPLE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Example 2: the sign of a number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if / elif / else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6035040" cy="3125714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5669280" cy="2851394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EA6BD"/>
                </a:solidFill>
                <a:latin typeface="Consolas"/>
              </a:rPr>
              <a:t># Read a number from the user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num = int(input("Enter a number: "))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EA6BD"/>
                </a:solidFill>
                <a:latin typeface="Consolas"/>
              </a:rPr>
              <a:t># Determine if positive, negative, or zero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if num &gt; 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print("positive")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elif num &lt; 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print("negative")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else: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print("zero")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691640"/>
            <a:ext cx="4602175" cy="45262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6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600" b="0">
                <a:solidFill>
                  <a:srgbClr val="1E2A38"/>
                </a:solidFill>
                <a:latin typeface="Trebuchet MS"/>
              </a:rPr>
              <a:t>Three possible answers, so </a:t>
            </a:r>
            <a:r>
              <a:rPr sz="1600" b="1">
                <a:solidFill>
                  <a:srgbClr val="1E2A38"/>
                </a:solidFill>
                <a:latin typeface="Trebuchet MS"/>
              </a:rPr>
              <a:t>three</a:t>
            </a:r>
            <a:r>
              <a:rPr sz="1600" b="0">
                <a:solidFill>
                  <a:srgbClr val="1E2A38"/>
                </a:solidFill>
                <a:latin typeface="Trebuchet MS"/>
              </a:rPr>
              <a:t> branches.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6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600" b="0">
                <a:solidFill>
                  <a:srgbClr val="3776AB"/>
                </a:solidFill>
                <a:latin typeface="Consolas"/>
              </a:rPr>
              <a:t>num &gt; 0</a:t>
            </a:r>
            <a:r>
              <a:rPr sz="1600" b="0">
                <a:solidFill>
                  <a:srgbClr val="1E2A38"/>
                </a:solidFill>
                <a:latin typeface="Trebuchet MS"/>
              </a:rPr>
              <a:t> is tested first; only if it fails does Python try </a:t>
            </a:r>
            <a:r>
              <a:rPr sz="1600" b="0">
                <a:solidFill>
                  <a:srgbClr val="3776AB"/>
                </a:solidFill>
                <a:latin typeface="Consolas"/>
              </a:rPr>
              <a:t>num &lt; 0</a:t>
            </a:r>
            <a:r>
              <a:rPr sz="1600" b="0">
                <a:solidFill>
                  <a:srgbClr val="1E2A38"/>
                </a:solidFill>
                <a:latin typeface="Trebuchet MS"/>
              </a:rPr>
              <a:t>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6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600" b="0">
                <a:solidFill>
                  <a:srgbClr val="3776AB"/>
                </a:solidFill>
                <a:latin typeface="Consolas"/>
              </a:rPr>
              <a:t>else</a:t>
            </a:r>
            <a:r>
              <a:rPr sz="1600" b="0">
                <a:solidFill>
                  <a:srgbClr val="1E2A38"/>
                </a:solidFill>
                <a:latin typeface="Trebuchet MS"/>
              </a:rPr>
              <a:t> needs no condition — by then, the number can only be zero.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6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600" b="0">
                <a:solidFill>
                  <a:srgbClr val="1E2A38"/>
                </a:solidFill>
                <a:latin typeface="Trebuchet MS"/>
              </a:rPr>
              <a:t>Adding a fourth outcome means adding one more </a:t>
            </a:r>
            <a:r>
              <a:rPr sz="1600" b="0">
                <a:solidFill>
                  <a:srgbClr val="3776AB"/>
                </a:solidFill>
                <a:latin typeface="Consolas"/>
              </a:rPr>
              <a:t>elif</a:t>
            </a:r>
            <a:r>
              <a:rPr sz="1600" b="0">
                <a:solidFill>
                  <a:srgbClr val="1E2A38"/>
                </a:solidFill>
                <a:latin typeface="Trebuchet MS"/>
              </a:rPr>
              <a:t>, nothing else.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99109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991090"/>
            <a:ext cx="64008" cy="713232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508253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776AB"/>
                </a:solidFill>
                <a:latin typeface="Trebuchet MS"/>
              </a:rPr>
              <a:t>TIP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Three outcomes, so three branches. </a:t>
            </a:r>
            <a:r>
              <a:rPr sz="1500" b="0">
                <a:solidFill>
                  <a:srgbClr val="3776AB"/>
                </a:solidFill>
                <a:latin typeface="Consolas"/>
              </a:rPr>
              <a:t>else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catches everything the earlier tests did not.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WORKED EXAMPLE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Example 3: classifying a triangle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if / elif / else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3450336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317601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EA6BD"/>
                </a:solidFill>
                <a:latin typeface="Consolas"/>
              </a:rPr>
              <a:t># Read three sides of a triangle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side1 = float(input("Enter first side: "))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side2 = float(input("Enter second side: "))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side3 = float(input("Enter third side: "))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EA6BD"/>
                </a:solidFill>
                <a:latin typeface="Consolas"/>
              </a:rPr>
              <a:t># Classify the triangle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if side1 == side2 == side3: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print("equilateral")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elif side1 == side2 or side1 == side3 or side2 == side3: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print("isosceles")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else: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print("scalene")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15712"/>
            <a:ext cx="10911535" cy="90220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7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700" b="0">
                <a:solidFill>
                  <a:srgbClr val="3776AB"/>
                </a:solidFill>
                <a:latin typeface="Consolas"/>
              </a:rPr>
              <a:t>side1 == side2 == side3</a:t>
            </a:r>
            <a:r>
              <a:rPr sz="1700" b="0">
                <a:solidFill>
                  <a:srgbClr val="1E2A38"/>
                </a:solidFill>
                <a:latin typeface="Trebuchet MS"/>
              </a:rPr>
              <a:t> is a chained comparison: all three equal.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7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700" b="0">
                <a:solidFill>
                  <a:srgbClr val="1E2A38"/>
                </a:solidFill>
                <a:latin typeface="Trebuchet MS"/>
              </a:rPr>
              <a:t>Equilateral is checked </a:t>
            </a:r>
            <a:r>
              <a:rPr sz="1700" b="1">
                <a:solidFill>
                  <a:srgbClr val="1E2A38"/>
                </a:solidFill>
                <a:latin typeface="Trebuchet MS"/>
              </a:rPr>
              <a:t>first</a:t>
            </a:r>
            <a:r>
              <a:rPr sz="1700" b="0">
                <a:solidFill>
                  <a:srgbClr val="1E2A38"/>
                </a:solidFill>
                <a:latin typeface="Trebuchet MS"/>
              </a:rPr>
              <a:t> — it is also isosceles by the second test.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ORDER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Order of checks decides 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if / elif / else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3702812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342849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EA6BD"/>
                </a:solidFill>
                <a:latin typeface="Consolas"/>
              </a:rPr>
              <a:t># WRONG: every magnitude above 2.0 stops at the first branch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if magnitude &gt;= 2.0: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print("Very Minor")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elif magnitude &gt;= 8.0: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print("Great")        # never reached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EA6BD"/>
                </a:solidFill>
                <a:latin typeface="Consolas"/>
              </a:rPr>
              <a:t># RIGHT: start from the narrowest / highest range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if magnitude &gt;= 10.0: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print("Meteoric")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elif magnitude &gt;= 8.0: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print("Great")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elif magnitude &gt;= 2.0: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print("Very Minor")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22468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522468"/>
            <a:ext cx="64008" cy="7132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5613908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2828"/>
                </a:solidFill>
                <a:latin typeface="Trebuchet MS"/>
              </a:rPr>
              <a:t>WATCH OUT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Python takes the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first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branch that is </a:t>
            </a:r>
            <a:r>
              <a:rPr sz="1500" b="0">
                <a:solidFill>
                  <a:srgbClr val="3776AB"/>
                </a:solidFill>
                <a:latin typeface="Consolas"/>
              </a:rPr>
              <a:t>True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and skips all the rest. Sort your ranges before you write them.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ORDER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elif vs. a stack of separate 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if / elif / else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3937254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3662934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EA6BD"/>
                </a:solidFill>
                <a:latin typeface="Consolas"/>
              </a:rPr>
              <a:t># Two independent questions - both can print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if n % 3 == 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print("Fizz")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if n % 5 == 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print("Buzz")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EA6BD"/>
                </a:solidFill>
                <a:latin typeface="Consolas"/>
              </a:rPr>
              <a:t># One question with several answers - exactly one prints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if n % 3 == 0 and n % 5 == 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print("FizzBuzz")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elif n % 3 == 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print("Fizz")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elif n % 5 == 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print("Buzz")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else: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print(n)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75691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756910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584835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Ask yourself: do the cases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exclude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each other? If yes, use </a:t>
            </a:r>
            <a:r>
              <a:rPr sz="1500" b="0">
                <a:solidFill>
                  <a:srgbClr val="3776AB"/>
                </a:solidFill>
                <a:latin typeface="Consolas"/>
              </a:rPr>
              <a:t>elif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 If no, use separate </a:t>
            </a:r>
            <a:r>
              <a:rPr sz="1500" b="0">
                <a:solidFill>
                  <a:srgbClr val="3776AB"/>
                </a:solidFill>
                <a:latin typeface="Consolas"/>
              </a:rPr>
              <a:t>if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statements.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NESTING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Nested if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if / elif / else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3937254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3662934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num = float(input("Enter a number: "))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if num &gt; 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adjective = " 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if num &gt;= 1000000: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    adjective = " really big 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elif num &gt;= 1000: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    adjective = " big 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result = "That's a" + adjective + "positive number"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elif num &lt; 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result = "That's a negative number"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else: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result = "That's zero"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print(result)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75691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756910"/>
            <a:ext cx="64008" cy="713232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584835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776AB"/>
                </a:solidFill>
                <a:latin typeface="Trebuchet MS"/>
              </a:rPr>
              <a:t>TIP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The body of any branch may contain another </a:t>
            </a:r>
            <a:r>
              <a:rPr sz="1500" b="0">
                <a:solidFill>
                  <a:srgbClr val="3776AB"/>
                </a:solidFill>
                <a:latin typeface="Consolas"/>
              </a:rPr>
              <a:t>if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 Each nesting level adds 4 more spaces — past three levels, rethink the logic.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SUMMARY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Part 4 in one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if / elif / else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911534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7395"/>
                <a:gridCol w="7554139"/>
              </a:tblGrid>
              <a:tr h="33702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Construct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What it does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if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Runs a block only when a condition is true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if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 /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else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Runs one of two blocks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if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 /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elif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 /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else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Runs one of several blocks, first match wins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Nested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if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An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if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 inside the body of another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if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Indentation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Decides which lines belong to which branch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702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Order of branches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Changes the result whenever ranges overlap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48056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480560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57200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These four constructs let a program respond differently to every input — which is what the 39 exercises of this topic are about.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68096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43B"/>
                </a:solidFill>
                <a:latin typeface="Trebuchet MS"/>
              </a:rPr>
              <a:t>PART 5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Conditions on Text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9BDD1"/>
                </a:solidFill>
                <a:latin typeface="Trebuchet MS"/>
              </a:rPr>
              <a:t>Letters, words and the numbers hiding behind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03120"/>
            <a:ext cx="329184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D43B"/>
                </a:solidFill>
                <a:latin typeface="Trebuchet MS"/>
              </a:rPr>
              <a:t>IN THIS PART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Comparing strings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in and len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Unpacking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Case-insensitive input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ord and chr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ASCII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STRINGS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String operations you will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Conditions on Text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911535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4364614"/>
                <a:gridCol w="4364614"/>
              </a:tblGrid>
              <a:tr h="33702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Trebuchet MS"/>
                        </a:rPr>
                        <a:t>Operation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Trebuchet MS"/>
                        </a:rPr>
                        <a:t>Example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Trebuchet MS"/>
                        </a:rPr>
                        <a:t>Purpose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==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"cat" == "dog"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-&gt;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Compare strings for exact equality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in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"e" in "hello"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-&gt;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Is this character or substring inside?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Unpacking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x, y, z = "cat"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-&gt;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"c"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"a"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"t"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Split a short string into single characters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len()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len("hello")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-&gt;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How many characters the string has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ord()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ord("A")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-&gt;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65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The ASCII number of a character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702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chr()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chr(65)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-&gt;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"A"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The character for an ASCII number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66344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663440"/>
            <a:ext cx="64008" cy="713232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75488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776AB"/>
                </a:solidFill>
                <a:latin typeface="Trebuchet MS"/>
              </a:rPr>
              <a:t>TIP</a:t>
            </a:r>
          </a:p>
          <a:p>
            <a:r>
              <a:rPr sz="1500" b="0">
                <a:solidFill>
                  <a:srgbClr val="3776AB"/>
                </a:solidFill>
                <a:latin typeface="Consolas"/>
              </a:rPr>
              <a:t>in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is the shortest way to test a vowel: </a:t>
            </a:r>
            <a:r>
              <a:rPr sz="1500" b="0">
                <a:solidFill>
                  <a:srgbClr val="3776AB"/>
                </a:solidFill>
                <a:latin typeface="Consolas"/>
              </a:rPr>
              <a:t>if letter in "aeiou":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STRINGS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String methods that answer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Conditions on Text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911535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4364614"/>
                <a:gridCol w="4364614"/>
              </a:tblGrid>
              <a:tr h="33604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Trebuchet MS"/>
                        </a:rPr>
                        <a:t>Method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Trebuchet MS"/>
                        </a:rPr>
                        <a:t>Example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Trebuchet MS"/>
                        </a:rPr>
                        <a:t>Purpose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.lower()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"Hello".lower()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-&gt;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"hello"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Normalise before comparing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.upper()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"hello".upper()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-&gt;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"HELLO"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The same, the other way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.title()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"hello".title()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-&gt;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"Hello"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Capitalise the first letter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.isdigit()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"5".isdigit()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-&gt;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Is every character a digit?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.isalpha()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"a".isalpha()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-&gt;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Is every character a letter?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.isalnum()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"a5".isalnum()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-&gt;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Letters and digits only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.isspace()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" ".isspace()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-&gt;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Space, tab or newline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98348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983480"/>
            <a:ext cx="64008" cy="7132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507492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2828"/>
                </a:solidFill>
                <a:latin typeface="Trebuchet MS"/>
              </a:rPr>
              <a:t>WATCH OUT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A method is called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on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a value: the dot belongs to the string, and the brackets are never optional.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STRINGS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The pattern for every text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Conditions on 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2584696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231037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letter = input().lower()      # normalise once, right after reading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if letter == "y":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print("sometimes vowel, sometimes consonant")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elif letter in "aeiou":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print("vowel")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else: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print("consonant")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04352"/>
            <a:ext cx="10911535" cy="1107946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4550656"/>
            <a:ext cx="10545775" cy="87020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vowel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731754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731754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5823194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Normalise the input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once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, then compare against lowercase literals only.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STRINGS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Splitting a short string into its characters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Conditions on 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3197860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29235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EA6BD"/>
                </a:solidFill>
                <a:latin typeface="Consolas"/>
              </a:rPr>
              <a:t># A chess square such as "d5" is a letter and a digit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position = input().lower()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column, row = position        # unpacking: "d5" -&gt; "d", "5"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column_number = ord(column) - ord("a") + 1   # "a" -&gt; 1 ... "h" -&gt; 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row_number = int(row)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if (column_number + row_number) % 2 == 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print("black")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else: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print("white")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17516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17516"/>
            <a:ext cx="64008" cy="7132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5108956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2828"/>
                </a:solidFill>
                <a:latin typeface="Trebuchet MS"/>
              </a:rPr>
              <a:t>WATCH OUT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Unpacking needs the number of variables to match the number of characters exactly — otherwise you get a </a:t>
            </a:r>
            <a:r>
              <a:rPr sz="1500" b="0">
                <a:solidFill>
                  <a:srgbClr val="3776AB"/>
                </a:solidFill>
                <a:latin typeface="Consolas"/>
              </a:rPr>
              <a:t>ValueError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ASCII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Behind every character is a number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Conditions on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6177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A computer stores text as numbers; ASCII is the oldest of those tables.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3776AB"/>
                </a:solidFill>
                <a:latin typeface="Consolas"/>
              </a:rPr>
              <a:t>ord(c)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gives the number of a character, </a:t>
            </a:r>
            <a:r>
              <a:rPr sz="1800" b="0">
                <a:solidFill>
                  <a:srgbClr val="3776AB"/>
                </a:solidFill>
                <a:latin typeface="Consolas"/>
              </a:rPr>
              <a:t>chr(n)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gives the character back.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Digits, capitals and lowercase letters each sit in one </a:t>
            </a:r>
            <a:r>
              <a:rPr sz="1800" b="1">
                <a:solidFill>
                  <a:srgbClr val="1E2A38"/>
                </a:solidFill>
                <a:latin typeface="Trebuchet MS"/>
              </a:rPr>
              <a:t>continuous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block.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That is why </a:t>
            </a:r>
            <a:r>
              <a:rPr sz="1800" b="0">
                <a:solidFill>
                  <a:srgbClr val="3776AB"/>
                </a:solidFill>
                <a:latin typeface="Consolas"/>
              </a:rPr>
              <a:t>"apple" &lt; "banana"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works: Python compares the numbers.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931920"/>
          <a:ext cx="10911534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8046"/>
                <a:gridCol w="3357395"/>
                <a:gridCol w="5036093"/>
              </a:tblGrid>
              <a:tr h="3401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Trebuchet MS"/>
                        </a:rPr>
                        <a:t>Range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Trebuchet MS"/>
                        </a:rPr>
                        <a:t>Characters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Trebuchet MS"/>
                        </a:rPr>
                        <a:t>Handy fact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48 – 57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0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–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ord("7") - ord("0")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-&gt;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65 – 90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A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–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Z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ord("C") - ord("A")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-&gt;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97 – 122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a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–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z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Lowercase is uppercase plus 32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01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32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space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ord(" ")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-&gt;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32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80644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806440"/>
            <a:ext cx="64008" cy="713232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589788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776AB"/>
                </a:solidFill>
                <a:latin typeface="Trebuchet MS"/>
              </a:rPr>
              <a:t>TIP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The full table is in </a:t>
            </a:r>
            <a:r>
              <a:rPr sz="1500" b="0">
                <a:solidFill>
                  <a:srgbClr val="3776AB"/>
                </a:solidFill>
                <a:latin typeface="Consolas"/>
              </a:rPr>
              <a:t>conditionals/_docs/ascii_table.md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68096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43B"/>
                </a:solidFill>
                <a:latin typeface="Trebuchet MS"/>
              </a:rPr>
              <a:t>PART 6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The match Statement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9BDD1"/>
                </a:solidFill>
                <a:latin typeface="Trebuchet MS"/>
              </a:rPr>
              <a:t>Python 3.10+ — clean branching on discrete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03120"/>
            <a:ext cx="329184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D43B"/>
                </a:solidFill>
                <a:latin typeface="Trebuchet MS"/>
              </a:rPr>
              <a:t>IN THIS PART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Basic syntax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Several values per case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Wildcard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Guards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match vs if-elif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MATCH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Basic match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The match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2566670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229235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E8EEF4"/>
                </a:solidFill>
                <a:latin typeface="Consolas"/>
              </a:rPr>
              <a:t>match expression: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E8EEF4"/>
                </a:solidFill>
                <a:latin typeface="Consolas"/>
              </a:rPr>
              <a:t>    case pattern1: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8EA6BD"/>
                </a:solidFill>
                <a:latin typeface="Consolas"/>
              </a:rPr>
              <a:t>        # code for pattern1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E8EEF4"/>
                </a:solidFill>
                <a:latin typeface="Consolas"/>
              </a:rPr>
              <a:t>    case pattern2: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8EA6BD"/>
                </a:solidFill>
                <a:latin typeface="Consolas"/>
              </a:rPr>
              <a:t>        # code for pattern2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E8EEF4"/>
                </a:solidFill>
                <a:latin typeface="Consolas"/>
              </a:rPr>
              <a:t>    case _: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8EA6BD"/>
                </a:solidFill>
                <a:latin typeface="Consolas"/>
              </a:rPr>
              <a:t>        # default case (optional)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77766"/>
            <a:ext cx="10911535" cy="1740154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3776AB"/>
                </a:solidFill>
                <a:latin typeface="Consolas"/>
              </a:rPr>
              <a:t>match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compares </a:t>
            </a:r>
            <a:r>
              <a:rPr sz="1800" b="1">
                <a:solidFill>
                  <a:srgbClr val="1E2A38"/>
                </a:solidFill>
                <a:latin typeface="Trebuchet MS"/>
              </a:rPr>
              <a:t>one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value against a list of patterns.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The first matching </a:t>
            </a:r>
            <a:r>
              <a:rPr sz="1800" b="0">
                <a:solidFill>
                  <a:srgbClr val="3776AB"/>
                </a:solidFill>
                <a:latin typeface="Consolas"/>
              </a:rPr>
              <a:t>case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runs; the rest are skipped — just like </a:t>
            </a:r>
            <a:r>
              <a:rPr sz="1800" b="0">
                <a:solidFill>
                  <a:srgbClr val="3776AB"/>
                </a:solidFill>
                <a:latin typeface="Consolas"/>
              </a:rPr>
              <a:t>elif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3776AB"/>
                </a:solidFill>
                <a:latin typeface="Consolas"/>
              </a:rPr>
              <a:t>case _: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is the wildcard: it matches anything the cases above did not.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Requires Python </a:t>
            </a:r>
            <a:r>
              <a:rPr sz="1800" b="1">
                <a:solidFill>
                  <a:srgbClr val="1E2A38"/>
                </a:solidFill>
                <a:latin typeface="Trebuchet MS"/>
              </a:rPr>
              <a:t>3.10 or newer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— this workbook uses 3.13.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MATCH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The same task, two 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The match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760720" cy="3233928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5394960" cy="295960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month = input().lower()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match month: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case "february":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    print("28 or 29")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case "january" | "march" | "may" | "july" \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     | "august" | "october" | "december":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    print("31")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case "april" | "june" | "september" | "november":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    print("30")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case _: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    print("Invalid month")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600200"/>
            <a:ext cx="4876495" cy="3702812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76288" y="1783080"/>
            <a:ext cx="4510735" cy="342849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month = input().lower()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if month == "february":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print("28 or 29")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elif month == "january" or month == "march" \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    or month == "may" or month == "july" \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    or month == "august" or month == "october" \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    or month == "december":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print("31")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elif month == "april" or month == "june" \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    or month == "september" or month == "november":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print("30")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else: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F4"/>
                </a:solidFill>
                <a:latin typeface="Consolas"/>
              </a:rPr>
              <a:t>    print("Invalid month")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44068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440680"/>
            <a:ext cx="64008" cy="713232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553212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776AB"/>
                </a:solidFill>
                <a:latin typeface="Trebuchet MS"/>
              </a:rPr>
              <a:t>TIP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Same result. The </a:t>
            </a:r>
            <a:r>
              <a:rPr sz="1500" b="0">
                <a:solidFill>
                  <a:srgbClr val="3776AB"/>
                </a:solidFill>
                <a:latin typeface="Consolas"/>
              </a:rPr>
              <a:t>|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in a </a:t>
            </a:r>
            <a:r>
              <a:rPr sz="1500" b="0">
                <a:solidFill>
                  <a:srgbClr val="3776AB"/>
                </a:solidFill>
                <a:latin typeface="Consolas"/>
              </a:rPr>
              <a:t>case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reads as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or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and keeps the branch on one line.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MATCH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Matching plain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The match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6035040" cy="4207764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5669280" cy="3933444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EA6BD"/>
                </a:solidFill>
                <a:latin typeface="Consolas"/>
              </a:rPr>
              <a:t># Read the denomination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denomination = int(input())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EA6BD"/>
                </a:solidFill>
                <a:latin typeface="Consolas"/>
              </a:rPr>
              <a:t># Determine the individual on the banknote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match denomination: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case 1: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    print("Mirzo Tursunzoda")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case 20: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    print("Abuali ibni Sino")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case 100: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    print("Ismoili Somoni")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case 500: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    print("Abuabdullo Rudaki")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case _: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    print("Invalid denomination")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783080"/>
            <a:ext cx="4602175" cy="44348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6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600" b="0">
                <a:solidFill>
                  <a:srgbClr val="1E2A38"/>
                </a:solidFill>
                <a:latin typeface="Trebuchet MS"/>
              </a:rPr>
              <a:t>A lookup table with a fixed set of keys is what </a:t>
            </a:r>
            <a:r>
              <a:rPr sz="1600" b="0">
                <a:solidFill>
                  <a:srgbClr val="3776AB"/>
                </a:solidFill>
                <a:latin typeface="Consolas"/>
              </a:rPr>
              <a:t>match</a:t>
            </a:r>
            <a:r>
              <a:rPr sz="1600" b="0">
                <a:solidFill>
                  <a:srgbClr val="1E2A38"/>
                </a:solidFill>
                <a:latin typeface="Trebuchet MS"/>
              </a:rPr>
              <a:t> is best at.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6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600" b="0">
                <a:solidFill>
                  <a:srgbClr val="1E2A38"/>
                </a:solidFill>
                <a:latin typeface="Trebuchet MS"/>
              </a:rPr>
              <a:t>Numbers and strings both work as patterns.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6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600" b="0">
                <a:solidFill>
                  <a:srgbClr val="1E2A38"/>
                </a:solidFill>
                <a:latin typeface="Trebuchet MS"/>
              </a:rPr>
              <a:t>Without </a:t>
            </a:r>
            <a:r>
              <a:rPr sz="1600" b="0">
                <a:solidFill>
                  <a:srgbClr val="3776AB"/>
                </a:solidFill>
                <a:latin typeface="Consolas"/>
              </a:rPr>
              <a:t>case _</a:t>
            </a:r>
            <a:r>
              <a:rPr sz="1600" b="0">
                <a:solidFill>
                  <a:srgbClr val="1E2A38"/>
                </a:solidFill>
                <a:latin typeface="Trebuchet MS"/>
              </a:rPr>
              <a:t>, an unknown value simply prints nothing — rarely what the task wants.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MATCH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Guards: a case with an extra condition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The match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3702812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342849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EA6BD"/>
                </a:solidFill>
                <a:latin typeface="Consolas"/>
              </a:rPr>
              <a:t># Read temperature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temperature = int(input())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EA6BD"/>
                </a:solidFill>
                <a:latin typeface="Consolas"/>
              </a:rPr>
              <a:t># Classify temperature with guard conditions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match temperature: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case temp if temp &lt; 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    print("freezing")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case temp if 0 &lt;= temp &lt; 20: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    print("cold")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case temp if 20 &lt;= temp &lt; 30: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    print("warm")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case temp if temp &gt;= 30: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F4"/>
                </a:solidFill>
                <a:latin typeface="Consolas"/>
              </a:rPr>
              <a:t>        print("hot")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22468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522468"/>
            <a:ext cx="64008" cy="7132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5613908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2828"/>
                </a:solidFill>
                <a:latin typeface="Trebuchet MS"/>
              </a:rPr>
              <a:t>WATCH OUT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Guards make ranges possible, but at that point an </a:t>
            </a:r>
            <a:r>
              <a:rPr sz="1500" b="0">
                <a:solidFill>
                  <a:srgbClr val="3776AB"/>
                </a:solidFill>
                <a:latin typeface="Consolas"/>
              </a:rPr>
              <a:t>if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/ </a:t>
            </a:r>
            <a:r>
              <a:rPr sz="1500" b="0">
                <a:solidFill>
                  <a:srgbClr val="3776AB"/>
                </a:solidFill>
                <a:latin typeface="Consolas"/>
              </a:rPr>
              <a:t>elif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chain is usually shorter and clearer.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MATCH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match or if-elif?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The match Statement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91153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4364614"/>
                <a:gridCol w="4364614"/>
              </a:tblGrid>
              <a:tr h="3429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Use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When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Example from the workbook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match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One variable against several fixed values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faces_money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month_days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month_from_int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if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 /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elif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Ranges, or conditions on several variables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richter_scale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valid_triangle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bmi_categories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Either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Small sets where both read well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vowel_consonant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student_year_level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931920"/>
            <a:ext cx="10911535" cy="22860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3776AB"/>
                </a:solidFill>
                <a:latin typeface="Consolas"/>
              </a:rPr>
              <a:t>match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is cleaner for </a:t>
            </a:r>
            <a:r>
              <a:rPr sz="1800" b="1">
                <a:solidFill>
                  <a:srgbClr val="1E2A38"/>
                </a:solidFill>
                <a:latin typeface="Trebuchet MS"/>
              </a:rPr>
              <a:t>value-based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branching.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3776AB"/>
                </a:solidFill>
                <a:latin typeface="Consolas"/>
              </a:rPr>
              <a:t>if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/ </a:t>
            </a:r>
            <a:r>
              <a:rPr sz="1800" b="0">
                <a:solidFill>
                  <a:srgbClr val="3776AB"/>
                </a:solidFill>
                <a:latin typeface="Consolas"/>
              </a:rPr>
              <a:t>elif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is better for </a:t>
            </a:r>
            <a:r>
              <a:rPr sz="1800" b="1">
                <a:solidFill>
                  <a:srgbClr val="1E2A38"/>
                </a:solidFill>
                <a:latin typeface="Trebuchet MS"/>
              </a:rPr>
              <a:t>condition-based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logic.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Neither is more advanced than the other — pick the one that reads better.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HOMEWORK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Your first five exercises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2A38"/>
                </a:solidFill>
                <a:latin typeface="Trebuchet M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81912"/>
            <a:ext cx="9601200" cy="56692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1E2A38"/>
                </a:solidFill>
                <a:latin typeface="Consolas"/>
              </a:rPr>
              <a:t>can_vote</a:t>
            </a:r>
          </a:p>
          <a:p>
            <a:r>
              <a:rPr sz="1500" b="0">
                <a:solidFill>
                  <a:srgbClr val="5A6672"/>
                </a:solidFill>
                <a:latin typeface="Trebuchet MS"/>
              </a:rPr>
              <a:t>One </a:t>
            </a:r>
            <a:r>
              <a:rPr sz="1500" b="0">
                <a:solidFill>
                  <a:srgbClr val="3776AB"/>
                </a:solidFill>
                <a:latin typeface="Consolas"/>
              </a:rPr>
              <a:t>if</a:t>
            </a:r>
            <a:r>
              <a:rPr sz="1500" b="0">
                <a:solidFill>
                  <a:srgbClr val="5A6672"/>
                </a:solidFill>
                <a:latin typeface="Trebuchet MS"/>
              </a:rPr>
              <a:t> / </a:t>
            </a:r>
            <a:r>
              <a:rPr sz="1500" b="0">
                <a:solidFill>
                  <a:srgbClr val="3776AB"/>
                </a:solidFill>
                <a:latin typeface="Consolas"/>
              </a:rPr>
              <a:t>else</a:t>
            </a:r>
            <a:r>
              <a:rPr sz="1500" b="0">
                <a:solidFill>
                  <a:srgbClr val="5A6672"/>
                </a:solidFill>
                <a:latin typeface="Trebuchet MS"/>
              </a:rPr>
              <a:t> and a single comparison.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13432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13432"/>
            <a:ext cx="502920" cy="5029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2A38"/>
                </a:solidFill>
                <a:latin typeface="Trebuchet M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95144"/>
            <a:ext cx="9601200" cy="56692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1E2A38"/>
                </a:solidFill>
                <a:latin typeface="Consolas"/>
              </a:rPr>
              <a:t>even_odd</a:t>
            </a:r>
          </a:p>
          <a:p>
            <a:r>
              <a:rPr sz="1500" b="0">
                <a:solidFill>
                  <a:srgbClr val="5A6672"/>
                </a:solidFill>
                <a:latin typeface="Trebuchet MS"/>
              </a:rPr>
              <a:t>The </a:t>
            </a:r>
            <a:r>
              <a:rPr sz="1500" b="0">
                <a:solidFill>
                  <a:srgbClr val="3776AB"/>
                </a:solidFill>
                <a:latin typeface="Consolas"/>
              </a:rPr>
              <a:t>%</a:t>
            </a:r>
            <a:r>
              <a:rPr sz="1500" b="0">
                <a:solidFill>
                  <a:srgbClr val="5A6672"/>
                </a:solidFill>
                <a:latin typeface="Trebuchet MS"/>
              </a:rPr>
              <a:t> operator inside a condition.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26664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26664"/>
            <a:ext cx="502920" cy="5029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2A38"/>
                </a:solidFill>
                <a:latin typeface="Trebuchet M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08376"/>
            <a:ext cx="9601200" cy="56692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1E2A38"/>
                </a:solidFill>
                <a:latin typeface="Consolas"/>
              </a:rPr>
              <a:t>number_sign</a:t>
            </a:r>
          </a:p>
          <a:p>
            <a:r>
              <a:rPr sz="1500" b="0">
                <a:solidFill>
                  <a:srgbClr val="5A6672"/>
                </a:solidFill>
                <a:latin typeface="Trebuchet MS"/>
              </a:rPr>
              <a:t>Your first </a:t>
            </a:r>
            <a:r>
              <a:rPr sz="1500" b="0">
                <a:solidFill>
                  <a:srgbClr val="3776AB"/>
                </a:solidFill>
                <a:latin typeface="Consolas"/>
              </a:rPr>
              <a:t>elif</a:t>
            </a:r>
            <a:r>
              <a:rPr sz="1500" b="0">
                <a:solidFill>
                  <a:srgbClr val="5A6672"/>
                </a:solidFill>
                <a:latin typeface="Trebuchet MS"/>
              </a:rPr>
              <a:t> — three outcomes.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39896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39896"/>
            <a:ext cx="502920" cy="5029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2A38"/>
                </a:solidFill>
                <a:latin typeface="Trebuchet M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21608"/>
            <a:ext cx="9601200" cy="56692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1E2A38"/>
                </a:solidFill>
                <a:latin typeface="Consolas"/>
              </a:rPr>
              <a:t>vowel_consonant</a:t>
            </a:r>
          </a:p>
          <a:p>
            <a:r>
              <a:rPr sz="1500" b="0">
                <a:solidFill>
                  <a:srgbClr val="5A6672"/>
                </a:solidFill>
                <a:latin typeface="Trebuchet MS"/>
              </a:rPr>
              <a:t>Text input, </a:t>
            </a:r>
            <a:r>
              <a:rPr sz="1500" b="0">
                <a:solidFill>
                  <a:srgbClr val="3776AB"/>
                </a:solidFill>
                <a:latin typeface="Consolas"/>
              </a:rPr>
              <a:t>.lower()</a:t>
            </a:r>
            <a:r>
              <a:rPr sz="1500" b="0">
                <a:solidFill>
                  <a:srgbClr val="5A6672"/>
                </a:solidFill>
                <a:latin typeface="Trebuchet MS"/>
              </a:rPr>
              <a:t> and </a:t>
            </a:r>
            <a:r>
              <a:rPr sz="1500" b="0">
                <a:solidFill>
                  <a:srgbClr val="3776AB"/>
                </a:solidFill>
                <a:latin typeface="Consolas"/>
              </a:rPr>
              <a:t>in</a:t>
            </a:r>
            <a:r>
              <a:rPr sz="1500" b="0">
                <a:solidFill>
                  <a:srgbClr val="5A6672"/>
                </a:solidFill>
                <a:latin typeface="Trebuchet MS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53128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53128"/>
            <a:ext cx="502920" cy="5029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2A38"/>
                </a:solidFill>
                <a:latin typeface="Trebuchet M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434840"/>
            <a:ext cx="9601200" cy="56692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1E2A38"/>
                </a:solidFill>
                <a:latin typeface="Consolas"/>
              </a:rPr>
              <a:t>two_equal</a:t>
            </a:r>
          </a:p>
          <a:p>
            <a:r>
              <a:rPr sz="1500" b="0">
                <a:solidFill>
                  <a:srgbClr val="5A6672"/>
                </a:solidFill>
                <a:latin typeface="Trebuchet MS"/>
              </a:rPr>
              <a:t>Combining comparisons with </a:t>
            </a:r>
            <a:r>
              <a:rPr sz="1500" b="0">
                <a:solidFill>
                  <a:srgbClr val="3776AB"/>
                </a:solidFill>
                <a:latin typeface="Consolas"/>
              </a:rPr>
              <a:t>or</a:t>
            </a:r>
            <a:r>
              <a:rPr sz="1500" b="0">
                <a:solidFill>
                  <a:srgbClr val="5A6672"/>
                </a:solidFill>
                <a:latin typeface="Trebuchet MS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5780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257800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534924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Run one exercise with </a:t>
            </a:r>
            <a:r>
              <a:rPr sz="1500" b="0">
                <a:solidFill>
                  <a:srgbClr val="3776AB"/>
                </a:solidFill>
                <a:latin typeface="Consolas"/>
              </a:rPr>
              <a:t>uv run pytest conditionals/can_vote/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, or the whole topic with </a:t>
            </a:r>
            <a:r>
              <a:rPr sz="1500" b="0">
                <a:solidFill>
                  <a:srgbClr val="3776AB"/>
                </a:solidFill>
                <a:latin typeface="Consolas"/>
              </a:rPr>
              <a:t>uv run pytest conditionals/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6153912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6153912"/>
            <a:ext cx="64008" cy="713232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6245352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776AB"/>
                </a:solidFill>
                <a:latin typeface="Trebuchet MS"/>
              </a:rPr>
              <a:t>TIP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All 39 exercises, in order: </a:t>
            </a:r>
            <a:r>
              <a:rPr sz="1500" b="0">
                <a:solidFill>
                  <a:srgbClr val="3776AB"/>
                </a:solidFill>
                <a:latin typeface="Consolas"/>
              </a:rPr>
              <a:t>conditionals/_docs/_table_of_contents.md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REFERENCE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Cheat sheet — everything on one page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91153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6976"/>
                <a:gridCol w="7014558"/>
              </a:tblGrid>
              <a:tr h="33310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Trebuchet MS"/>
                        </a:rPr>
                        <a:t>Task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Trebuchet MS"/>
                        </a:rPr>
                        <a:t>Code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8"/>
                          </a:solidFill>
                          <a:latin typeface="Trebuchet MS"/>
                        </a:rPr>
                        <a:t>Compare two values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776AB"/>
                          </a:solidFill>
                          <a:latin typeface="Consolas"/>
                        </a:rPr>
                        <a:t>a == b</a:t>
                      </a:r>
                      <a:r>
                        <a:rPr sz="14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400" b="0">
                          <a:solidFill>
                            <a:srgbClr val="3776AB"/>
                          </a:solidFill>
                          <a:latin typeface="Consolas"/>
                        </a:rPr>
                        <a:t>a != b</a:t>
                      </a:r>
                      <a:r>
                        <a:rPr sz="14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400" b="0">
                          <a:solidFill>
                            <a:srgbClr val="3776AB"/>
                          </a:solidFill>
                          <a:latin typeface="Consolas"/>
                        </a:rPr>
                        <a:t>a &lt; b</a:t>
                      </a:r>
                      <a:r>
                        <a:rPr sz="14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400" b="0">
                          <a:solidFill>
                            <a:srgbClr val="3776AB"/>
                          </a:solidFill>
                          <a:latin typeface="Consolas"/>
                        </a:rPr>
                        <a:t>a &lt;= b</a:t>
                      </a:r>
                      <a:r>
                        <a:rPr sz="14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400" b="0">
                          <a:solidFill>
                            <a:srgbClr val="3776AB"/>
                          </a:solidFill>
                          <a:latin typeface="Consolas"/>
                        </a:rPr>
                        <a:t>a &gt; b</a:t>
                      </a:r>
                      <a:r>
                        <a:rPr sz="14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400" b="0">
                          <a:solidFill>
                            <a:srgbClr val="3776AB"/>
                          </a:solidFill>
                          <a:latin typeface="Consolas"/>
                        </a:rPr>
                        <a:t>a &gt;= 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8"/>
                          </a:solidFill>
                          <a:latin typeface="Trebuchet MS"/>
                        </a:rPr>
                        <a:t>Run a block only if true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776AB"/>
                          </a:solidFill>
                          <a:latin typeface="Consolas"/>
                        </a:rPr>
                        <a:t>if age &gt;= 18: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8"/>
                          </a:solidFill>
                          <a:latin typeface="Trebuchet MS"/>
                        </a:rPr>
                        <a:t>Two branches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776AB"/>
                          </a:solidFill>
                          <a:latin typeface="Consolas"/>
                        </a:rPr>
                        <a:t>if ...:</a:t>
                      </a:r>
                      <a:r>
                        <a:rPr sz="1400" b="0">
                          <a:solidFill>
                            <a:srgbClr val="1E2A38"/>
                          </a:solidFill>
                          <a:latin typeface="Trebuchet MS"/>
                        </a:rPr>
                        <a:t> / </a:t>
                      </a:r>
                      <a:r>
                        <a:rPr sz="1400" b="0">
                          <a:solidFill>
                            <a:srgbClr val="3776AB"/>
                          </a:solidFill>
                          <a:latin typeface="Consolas"/>
                        </a:rPr>
                        <a:t>else: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8"/>
                          </a:solidFill>
                          <a:latin typeface="Trebuchet MS"/>
                        </a:rPr>
                        <a:t>Many branches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776AB"/>
                          </a:solidFill>
                          <a:latin typeface="Consolas"/>
                        </a:rPr>
                        <a:t>if ...:</a:t>
                      </a:r>
                      <a:r>
                        <a:rPr sz="1400" b="0">
                          <a:solidFill>
                            <a:srgbClr val="1E2A38"/>
                          </a:solidFill>
                          <a:latin typeface="Trebuchet MS"/>
                        </a:rPr>
                        <a:t> / </a:t>
                      </a:r>
                      <a:r>
                        <a:rPr sz="1400" b="0">
                          <a:solidFill>
                            <a:srgbClr val="3776AB"/>
                          </a:solidFill>
                          <a:latin typeface="Consolas"/>
                        </a:rPr>
                        <a:t>elif ...:</a:t>
                      </a:r>
                      <a:r>
                        <a:rPr sz="1400" b="0">
                          <a:solidFill>
                            <a:srgbClr val="1E2A38"/>
                          </a:solidFill>
                          <a:latin typeface="Trebuchet MS"/>
                        </a:rPr>
                        <a:t> / </a:t>
                      </a:r>
                      <a:r>
                        <a:rPr sz="1400" b="0">
                          <a:solidFill>
                            <a:srgbClr val="3776AB"/>
                          </a:solidFill>
                          <a:latin typeface="Consolas"/>
                        </a:rPr>
                        <a:t>else: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8"/>
                          </a:solidFill>
                          <a:latin typeface="Trebuchet MS"/>
                        </a:rPr>
                        <a:t>Both must hold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776AB"/>
                          </a:solidFill>
                          <a:latin typeface="Consolas"/>
                        </a:rPr>
                        <a:t>if a &gt; 0 and b &gt; 0: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8"/>
                          </a:solidFill>
                          <a:latin typeface="Trebuchet MS"/>
                        </a:rPr>
                        <a:t>At least one holds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776AB"/>
                          </a:solidFill>
                          <a:latin typeface="Consolas"/>
                        </a:rPr>
                        <a:t>if a == b or a == c: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8"/>
                          </a:solidFill>
                          <a:latin typeface="Trebuchet MS"/>
                        </a:rPr>
                        <a:t>Flip a condition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776AB"/>
                          </a:solidFill>
                          <a:latin typeface="Consolas"/>
                        </a:rPr>
                        <a:t>if not is_open: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8"/>
                          </a:solidFill>
                          <a:latin typeface="Trebuchet MS"/>
                        </a:rPr>
                        <a:t>A range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776AB"/>
                          </a:solidFill>
                          <a:latin typeface="Consolas"/>
                        </a:rPr>
                        <a:t>if 18.5 &lt;= bmi &lt; 25.0: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8"/>
                          </a:solidFill>
                          <a:latin typeface="Trebuchet MS"/>
                        </a:rPr>
                        <a:t>All three equal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776AB"/>
                          </a:solidFill>
                          <a:latin typeface="Consolas"/>
                        </a:rPr>
                        <a:t>if a == b == c: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8"/>
                          </a:solidFill>
                          <a:latin typeface="Trebuchet MS"/>
                        </a:rPr>
                        <a:t>Ignore letter case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776AB"/>
                          </a:solidFill>
                          <a:latin typeface="Consolas"/>
                        </a:rPr>
                        <a:t>month = input().lower()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8"/>
                          </a:solidFill>
                          <a:latin typeface="Trebuchet MS"/>
                        </a:rPr>
                        <a:t>Is a character in a set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776AB"/>
                          </a:solidFill>
                          <a:latin typeface="Consolas"/>
                        </a:rPr>
                        <a:t>if letter in "aeiou":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8"/>
                          </a:solidFill>
                          <a:latin typeface="Trebuchet MS"/>
                        </a:rPr>
                        <a:t>Character to number and back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776AB"/>
                          </a:solidFill>
                          <a:latin typeface="Consolas"/>
                        </a:rPr>
                        <a:t>ord("A")</a:t>
                      </a:r>
                      <a:r>
                        <a:rPr sz="1400" b="0">
                          <a:solidFill>
                            <a:srgbClr val="1E2A38"/>
                          </a:solidFill>
                          <a:latin typeface="Trebuchet MS"/>
                        </a:rPr>
                        <a:t>   </a:t>
                      </a:r>
                      <a:r>
                        <a:rPr sz="1400" b="0">
                          <a:solidFill>
                            <a:srgbClr val="3776AB"/>
                          </a:solidFill>
                          <a:latin typeface="Consolas"/>
                        </a:rPr>
                        <a:t>chr(65)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311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8"/>
                          </a:solidFill>
                          <a:latin typeface="Trebuchet MS"/>
                        </a:rPr>
                        <a:t>Branch on fixed values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776AB"/>
                          </a:solidFill>
                          <a:latin typeface="Consolas"/>
                        </a:rPr>
                        <a:t>match value:</a:t>
                      </a:r>
                      <a:r>
                        <a:rPr sz="1400" b="0">
                          <a:solidFill>
                            <a:srgbClr val="1E2A38"/>
                          </a:solidFill>
                          <a:latin typeface="Trebuchet MS"/>
                        </a:rPr>
                        <a:t> / </a:t>
                      </a:r>
                      <a:r>
                        <a:rPr sz="1400" b="0">
                          <a:solidFill>
                            <a:srgbClr val="3776AB"/>
                          </a:solidFill>
                          <a:latin typeface="Consolas"/>
                        </a:rPr>
                        <a:t>case 1:</a:t>
                      </a:r>
                      <a:r>
                        <a:rPr sz="1400" b="0">
                          <a:solidFill>
                            <a:srgbClr val="1E2A38"/>
                          </a:solidFill>
                          <a:latin typeface="Trebuchet MS"/>
                        </a:rPr>
                        <a:t> / </a:t>
                      </a:r>
                      <a:r>
                        <a:rPr sz="1400" b="0">
                          <a:solidFill>
                            <a:srgbClr val="3776AB"/>
                          </a:solidFill>
                          <a:latin typeface="Consolas"/>
                        </a:rPr>
                        <a:t>case _: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REFERENCE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Where to read more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911534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6372"/>
                <a:gridCol w="6235162"/>
              </a:tblGrid>
              <a:tr h="33604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Document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What is in it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comparison_operators.md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Part 2 — the six operators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boolean_operators.md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Part 3 — truth tables, precedence, short-circuit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if_elif_else.md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Part 4 — the chapter text and worked examples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string_utils.md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Part 5 — string operations and methods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ascii_table.md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Part 5 — the full ASCII table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match.md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Part 6 — the match statement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_table_of_contents.md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Reading order + all 39 exercises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84632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4846320"/>
            <a:ext cx="64008" cy="713232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493776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776AB"/>
                </a:solidFill>
                <a:latin typeface="Trebuchet MS"/>
              </a:rPr>
              <a:t>TIP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All of them live in </a:t>
            </a:r>
            <a:r>
              <a:rPr sz="1500" b="0">
                <a:solidFill>
                  <a:srgbClr val="3776AB"/>
                </a:solidFill>
                <a:latin typeface="Consolas"/>
              </a:rPr>
              <a:t>conditionals/_docs/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784080" cy="29260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200" b="1" i="0">
                <a:solidFill>
                  <a:srgbClr val="FFFFFF"/>
                </a:solidFill>
                <a:latin typeface="Trebuchet MS"/>
              </a:rPr>
              <a:t>Now your programs can choose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2200" b="0" i="0">
                <a:solidFill>
                  <a:srgbClr val="C3D3E1"/>
                </a:solidFill>
                <a:latin typeface="Trebuchet MS"/>
              </a:rPr>
              <a:t>Start with can_vote, and read the task statement twice before you write a line.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8FB6D9"/>
                </a:solidFill>
                <a:latin typeface="Trebuchet MS"/>
              </a:rPr>
              <a:t>When a test fails, compare the expected and the actual output character by character — the answer is almost always there.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120640"/>
            <a:ext cx="9784080" cy="7315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D43B"/>
                </a:solidFill>
                <a:latin typeface="Trebuchet MS"/>
              </a:rPr>
              <a:t>Good luck  ·  see you soon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