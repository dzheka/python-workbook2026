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" cy="137160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8686800" cy="18288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FFD43B"/>
                </a:solidFill>
                <a:latin typeface="Trebuchet MS"/>
              </a:rPr>
              <a:t>PYTHON · TOPIC 3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5200" b="1" i="0">
                <a:solidFill>
                  <a:srgbClr val="FFFFFF"/>
                </a:solidFill>
                <a:latin typeface="Trebuchet MS"/>
              </a:rPr>
              <a:t>Doing It Again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A9BDD1"/>
                </a:solidFill>
                <a:latin typeface="Trebuchet MS"/>
              </a:rPr>
              <a:t>Loops: for, while, and the patterns built on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31920"/>
            <a:ext cx="9601200" cy="18288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8FB6D9"/>
                </a:solidFill>
                <a:latin typeface="Trebuchet MS"/>
              </a:rPr>
              <a:t>A computer is not faster than you at thinking.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8FB6D9"/>
                </a:solidFill>
                <a:latin typeface="Trebuchet MS"/>
              </a:rPr>
              <a:t>It is faster than you at doing the same thing 10 000 times.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669280"/>
            <a:ext cx="9144000" cy="457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E8AA3"/>
                </a:solidFill>
                <a:latin typeface="Trebuchet MS"/>
              </a:rPr>
              <a:t>python-workbook2026  ·  repetitions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ROADMAP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What we cover today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911534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95"/>
                <a:gridCol w="3312430"/>
                <a:gridCol w="6819709"/>
              </a:tblGrid>
              <a:tr h="33702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Part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Topic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You will be able to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2A38"/>
                          </a:solidFill>
                          <a:latin typeface="Trebuchet MS"/>
                        </a:rPr>
                        <a:t>Why loops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say what a loop repeats and when it stops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2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2A38"/>
                          </a:solidFill>
                          <a:latin typeface="Trebuchet MS"/>
                        </a:rPr>
                        <a:t>The `for` loop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count with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range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 and walk a string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2A38"/>
                          </a:solidFill>
                          <a:latin typeface="Trebuchet MS"/>
                        </a:rPr>
                        <a:t>The `while` loop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repeat until a condition changes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4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2A38"/>
                          </a:solidFill>
                          <a:latin typeface="Trebuchet MS"/>
                        </a:rPr>
                        <a:t>`break` and `continue`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leave early, or skip one turn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2A38"/>
                          </a:solidFill>
                          <a:latin typeface="Trebuchet MS"/>
                        </a:rPr>
                        <a:t>Accumulators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total, count, and find the largest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702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6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2A38"/>
                          </a:solidFill>
                          <a:latin typeface="Trebuchet MS"/>
                        </a:rPr>
                        <a:t>Nested loops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print tables and shapes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02920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5029200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512064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Trebuchet MS"/>
              </a:rPr>
              <a:t>REMEMBER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Everything today sits on the </a:t>
            </a:r>
            <a:r>
              <a:rPr sz="1500" b="0">
                <a:solidFill>
                  <a:srgbClr val="3776AB"/>
                </a:solidFill>
                <a:latin typeface="Consolas"/>
              </a:rPr>
              <a:t>if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you already know — a loop is a decision asked over and over.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68096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D43B"/>
                </a:solidFill>
                <a:latin typeface="Trebuchet MS"/>
              </a:rPr>
              <a:t>PART 1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Trebuchet MS"/>
              </a:rPr>
              <a:t>Why loops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9BDD1"/>
                </a:solidFill>
                <a:latin typeface="Trebuchet MS"/>
              </a:rPr>
              <a:t>The same work, without writing it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03120"/>
            <a:ext cx="329184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D43B"/>
                </a:solidFill>
                <a:latin typeface="Trebuchet MS"/>
              </a:rPr>
              <a:t>IN THIS PART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Copy-paste does not scale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The anatomy of a loop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`for` or `while`?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WITHOUT A LOOP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Print the numbers 1 to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Why loops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120640" cy="1773169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4754880" cy="1498849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print(1)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print(2)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print(3)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print(4)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00200"/>
            <a:ext cx="5120640" cy="961642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783080"/>
            <a:ext cx="4754880" cy="68732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for i in range(1, 6):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84265"/>
            <a:ext cx="5120640" cy="1919473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830569"/>
            <a:ext cx="4754880" cy="1681729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93776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937760"/>
            <a:ext cx="64008" cy="713232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502920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776AB"/>
                </a:solidFill>
                <a:latin typeface="Trebuchet MS"/>
              </a:rPr>
              <a:t>TIP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Now make it 1 to 1000. The left column needs 995 more lines; the right one needs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one character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ANATOMY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Every loop has four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Why loops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463040"/>
            <a:ext cx="3200400" cy="566928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15875">
            <a:solidFill>
              <a:srgbClr val="C8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2768" y="1536192"/>
            <a:ext cx="2980944" cy="42062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/>
            <a:r>
              <a:rPr sz="1400" b="0">
                <a:solidFill>
                  <a:srgbClr val="1E2A38"/>
                </a:solidFill>
                <a:latin typeface="Trebuchet MS"/>
              </a:rPr>
              <a:t>start: </a:t>
            </a:r>
            <a:r>
              <a:rPr sz="1400" b="0">
                <a:solidFill>
                  <a:srgbClr val="3776AB"/>
                </a:solidFill>
                <a:latin typeface="Consolas"/>
              </a:rPr>
              <a:t>total = 0</a:t>
            </a:r>
            <a:r>
              <a:rPr sz="1400" b="0">
                <a:solidFill>
                  <a:srgbClr val="1E2A38"/>
                </a:solidFill>
                <a:latin typeface="Trebuchet MS"/>
              </a:rPr>
              <a:t>, </a:t>
            </a:r>
            <a:r>
              <a:rPr sz="1400" b="0">
                <a:solidFill>
                  <a:srgbClr val="3776AB"/>
                </a:solidFill>
                <a:latin typeface="Consolas"/>
              </a:rPr>
              <a:t>i = 1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2029968"/>
            <a:ext cx="27432" cy="384048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3040" y="2414016"/>
            <a:ext cx="320040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377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72768" y="2487168"/>
            <a:ext cx="2980944" cy="51206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/>
            <a:r>
              <a:rPr sz="1500" b="0">
                <a:solidFill>
                  <a:srgbClr val="3776AB"/>
                </a:solidFill>
                <a:latin typeface="Trebuchet MS"/>
              </a:rPr>
              <a:t>is the condition still true?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3072384"/>
            <a:ext cx="27432" cy="384048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3090672"/>
            <a:ext cx="12801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Trebuchet MS"/>
              </a:rPr>
              <a:t>still true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3456432"/>
            <a:ext cx="3200400" cy="566928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15875">
            <a:solidFill>
              <a:srgbClr val="C8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72768" y="3529584"/>
            <a:ext cx="2980944" cy="42062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/>
            <a:r>
              <a:rPr sz="1400" b="0">
                <a:solidFill>
                  <a:srgbClr val="1E2A38"/>
                </a:solidFill>
                <a:latin typeface="Trebuchet MS"/>
              </a:rPr>
              <a:t>do the work — the </a:t>
            </a:r>
            <a:r>
              <a:rPr sz="1400" b="1">
                <a:solidFill>
                  <a:srgbClr val="1E2A38"/>
                </a:solidFill>
                <a:latin typeface="Trebuchet MS"/>
              </a:rPr>
              <a:t>body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360" y="4023360"/>
            <a:ext cx="27432" cy="384048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63040" y="4407408"/>
            <a:ext cx="3200400" cy="566928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15875">
            <a:solidFill>
              <a:srgbClr val="C8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72768" y="4480560"/>
            <a:ext cx="2980944" cy="42062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/>
            <a:r>
              <a:rPr sz="1400" b="0">
                <a:solidFill>
                  <a:srgbClr val="1E2A38"/>
                </a:solidFill>
                <a:latin typeface="Trebuchet MS"/>
              </a:rPr>
              <a:t>change something: </a:t>
            </a:r>
            <a:r>
              <a:rPr sz="1400" b="0">
                <a:solidFill>
                  <a:srgbClr val="3776AB"/>
                </a:solidFill>
                <a:latin typeface="Consolas"/>
              </a:rPr>
              <a:t>i = i + 1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2743200"/>
            <a:ext cx="27432" cy="1947672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3440" y="2743200"/>
            <a:ext cx="301752" cy="27432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63440" y="4672584"/>
            <a:ext cx="301752" cy="27432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7488" y="3419856"/>
            <a:ext cx="1737360" cy="3657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and round again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578608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Trebuchet MS"/>
              </a:rPr>
              <a:t>false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" y="2743200"/>
            <a:ext cx="566928" cy="274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-1389888" y="2487168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15875">
            <a:solidFill>
              <a:srgbClr val="E0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-1280160" y="2560320"/>
            <a:ext cx="2066544" cy="402336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/>
            <a:r>
              <a:rPr sz="1400" b="0">
                <a:solidFill>
                  <a:srgbClr val="C62828"/>
                </a:solidFill>
                <a:latin typeface="Trebuchet MS"/>
              </a:rPr>
              <a:t>leave the loop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57784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577840"/>
            <a:ext cx="64008" cy="7132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566928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62828"/>
                </a:solidFill>
                <a:latin typeface="Trebuchet MS"/>
              </a:rPr>
              <a:t>WATCH OUT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Forget the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step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and the condition never changes — that is an infinite loop, and the program hangs.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CHOOSING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Two loops, two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Why loops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911533" cy="1042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825"/>
                <a:gridCol w="1558790"/>
                <a:gridCol w="5260918"/>
              </a:tblGrid>
              <a:tr h="34747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Trebuchet MS"/>
                        </a:rPr>
                        <a:t>Question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Trebuchet MS"/>
                        </a:rPr>
                        <a:t>Loop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Trebuchet MS"/>
                        </a:rPr>
                        <a:t>Example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E2A38"/>
                          </a:solidFill>
                          <a:latin typeface="Trebuchet MS"/>
                        </a:rPr>
                        <a:t>I know </a:t>
                      </a:r>
                      <a:r>
                        <a:rPr sz="1700" b="1">
                          <a:solidFill>
                            <a:srgbClr val="1E2A38"/>
                          </a:solidFill>
                          <a:latin typeface="Trebuchet MS"/>
                        </a:rPr>
                        <a:t>how many times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776AB"/>
                          </a:solidFill>
                          <a:latin typeface="Consolas"/>
                        </a:rPr>
                        <a:t>for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E2A38"/>
                          </a:solidFill>
                          <a:latin typeface="Trebuchet MS"/>
                        </a:rPr>
                        <a:t>print a table of 12 rows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3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E2A38"/>
                          </a:solidFill>
                          <a:latin typeface="Trebuchet MS"/>
                        </a:rPr>
                        <a:t>I repeat </a:t>
                      </a:r>
                      <a:r>
                        <a:rPr sz="1700" b="1">
                          <a:solidFill>
                            <a:srgbClr val="1E2A38"/>
                          </a:solidFill>
                          <a:latin typeface="Trebuchet MS"/>
                        </a:rPr>
                        <a:t>until something changes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776AB"/>
                          </a:solidFill>
                          <a:latin typeface="Consolas"/>
                        </a:rPr>
                        <a:t>while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E2A38"/>
                          </a:solidFill>
                          <a:latin typeface="Trebuchet MS"/>
                        </a:rPr>
                        <a:t>read numbers until the user types 0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566160"/>
            <a:ext cx="10911535" cy="26517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A </a:t>
            </a:r>
            <a:r>
              <a:rPr sz="1800" b="0">
                <a:solidFill>
                  <a:srgbClr val="3776AB"/>
                </a:solidFill>
                <a:latin typeface="Consolas"/>
              </a:rPr>
              <a:t>for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loop counts through a sequence that already exists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A </a:t>
            </a:r>
            <a:r>
              <a:rPr sz="1800" b="0">
                <a:solidFill>
                  <a:srgbClr val="3776AB"/>
                </a:solidFill>
                <a:latin typeface="Consolas"/>
              </a:rPr>
              <a:t>while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loop keeps going while a condition holds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Anything a </a:t>
            </a:r>
            <a:r>
              <a:rPr sz="1800" b="0">
                <a:solidFill>
                  <a:srgbClr val="3776AB"/>
                </a:solidFill>
                <a:latin typeface="Consolas"/>
              </a:rPr>
              <a:t>for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can do, a </a:t>
            </a:r>
            <a:r>
              <a:rPr sz="1800" b="0">
                <a:solidFill>
                  <a:srgbClr val="3776AB"/>
                </a:solidFill>
                <a:latin typeface="Consolas"/>
              </a:rPr>
              <a:t>while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can do — it is just longer to write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30352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303520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539496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Trebuchet MS"/>
              </a:rPr>
              <a:t>REMEMBER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Rule of thumb: if you can say the number of turns out loud before the loop starts, use </a:t>
            </a:r>
            <a:r>
              <a:rPr sz="1500" b="0">
                <a:solidFill>
                  <a:srgbClr val="3776AB"/>
                </a:solidFill>
                <a:latin typeface="Consolas"/>
              </a:rPr>
              <a:t>for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68096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D43B"/>
                </a:solidFill>
                <a:latin typeface="Trebuchet MS"/>
              </a:rPr>
              <a:t>PART 2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Trebuchet MS"/>
              </a:rPr>
              <a:t>The `for` loop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9BDD1"/>
                </a:solidFill>
                <a:latin typeface="Trebuchet MS"/>
              </a:rPr>
              <a:t>Counting through a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03120"/>
            <a:ext cx="329184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D43B"/>
                </a:solidFill>
                <a:latin typeface="Trebuchet MS"/>
              </a:rPr>
              <a:t>IN THIS PART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`range` with 1, 2, 3 arguments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Walking a string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The loop variable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SYNTAX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for ... in range(...)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The `for`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1773169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1498849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for i in range(1, 6):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print(i)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EA6BD"/>
                </a:solidFill>
                <a:latin typeface="Consolas"/>
              </a:rPr>
              <a:t># i takes each value in turn: 1, 2, 3, 4, 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EA6BD"/>
                </a:solidFill>
                <a:latin typeface="Consolas"/>
              </a:rPr>
              <a:t># the indented block runs once per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92825"/>
            <a:ext cx="10911535" cy="1919473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739129"/>
            <a:ext cx="10545775" cy="1681729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731754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731754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5823194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Trebuchet MS"/>
              </a:rPr>
              <a:t>REMEMBER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The colon and the indentation are the same rules as </a:t>
            </a:r>
            <a:r>
              <a:rPr sz="1500" b="0">
                <a:solidFill>
                  <a:srgbClr val="3776AB"/>
                </a:solidFill>
                <a:latin typeface="Consolas"/>
              </a:rPr>
              <a:t>if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. The indented block is the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body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RANGE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range() takes up to three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The `for` loop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911533" cy="2029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3034"/>
                <a:gridCol w="3312430"/>
                <a:gridCol w="5066069"/>
              </a:tblGrid>
              <a:tr h="338327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Call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Produces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Read it as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</a:tr>
              <a:tr h="338327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range(5)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0 1 2 3 4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five values, starting at 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8327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range(1, 6)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1 2 3 4 5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from 1, </a:t>
                      </a:r>
                      <a:r>
                        <a:rPr sz="1600" b="1">
                          <a:solidFill>
                            <a:srgbClr val="1E2A38"/>
                          </a:solidFill>
                          <a:latin typeface="Trebuchet MS"/>
                        </a:rPr>
                        <a:t>stop before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 6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8327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range(0, 101, 10)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0 10 20 ... 100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from 0 to 100, step 10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8327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range(5, 0, -1)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5 4 3 2 1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count down, step -1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833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range(0)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nothing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an empty range — the body never runs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48056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480560"/>
            <a:ext cx="64008" cy="7132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457200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62828"/>
                </a:solidFill>
                <a:latin typeface="Trebuchet MS"/>
              </a:rPr>
              <a:t>WATCH OUT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The stop value is never reached. </a:t>
            </a:r>
            <a:r>
              <a:rPr sz="1500" b="0">
                <a:solidFill>
                  <a:srgbClr val="3776AB"/>
                </a:solidFill>
                <a:latin typeface="Consolas"/>
              </a:rPr>
              <a:t>range(1, 6)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ends at 5 — this is the single most common off-by-one in the chapter.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ITERATING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A string is a sequence too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The `for`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486400" cy="1502660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5120640" cy="12283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word = "loop"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for letter in word: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print(letter)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00200"/>
            <a:ext cx="4754880" cy="1648964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93408" y="1746504"/>
            <a:ext cx="4389120" cy="14112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96636"/>
            <a:ext cx="10911535" cy="2621284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No </a:t>
            </a:r>
            <a:r>
              <a:rPr sz="1800" b="0">
                <a:solidFill>
                  <a:srgbClr val="3776AB"/>
                </a:solidFill>
                <a:latin typeface="Consolas"/>
              </a:rPr>
              <a:t>range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, no counting — </a:t>
            </a:r>
            <a:r>
              <a:rPr sz="1800" b="0">
                <a:solidFill>
                  <a:srgbClr val="3776AB"/>
                </a:solidFill>
                <a:latin typeface="Consolas"/>
              </a:rPr>
              <a:t>for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walks the characters directly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The loop variable is </a:t>
            </a:r>
            <a:r>
              <a:rPr sz="1800" b="1">
                <a:solidFill>
                  <a:srgbClr val="1E2A38"/>
                </a:solidFill>
                <a:latin typeface="Trebuchet MS"/>
              </a:rPr>
              <a:t>yours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to name: </a:t>
            </a:r>
            <a:r>
              <a:rPr sz="1800" b="0">
                <a:solidFill>
                  <a:srgbClr val="3776AB"/>
                </a:solidFill>
                <a:latin typeface="Consolas"/>
              </a:rPr>
              <a:t>letter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says more than </a:t>
            </a:r>
            <a:r>
              <a:rPr sz="1800" b="0">
                <a:solidFill>
                  <a:srgbClr val="3776AB"/>
                </a:solidFill>
                <a:latin typeface="Consolas"/>
              </a:rPr>
              <a:t>i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3776AB"/>
                </a:solidFill>
                <a:latin typeface="Consolas"/>
              </a:rPr>
              <a:t>len(word)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still tells you how many turns there will be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21208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5212080"/>
            <a:ext cx="64008" cy="713232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530352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776AB"/>
                </a:solidFill>
                <a:latin typeface="Trebuchet MS"/>
              </a:rPr>
              <a:t>TIP</a:t>
            </a:r>
          </a:p>
          <a:p>
            <a:r>
              <a:rPr sz="1500" b="0">
                <a:solidFill>
                  <a:srgbClr val="3776AB"/>
                </a:solidFill>
                <a:latin typeface="Consolas"/>
              </a:rPr>
              <a:t>for i in range(len(word)):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also works, but then you need </a:t>
            </a:r>
            <a:r>
              <a:rPr sz="1500" b="0">
                <a:solidFill>
                  <a:srgbClr val="3776AB"/>
                </a:solidFill>
                <a:latin typeface="Consolas"/>
              </a:rPr>
              <a:t>word[i]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. Walk the string directly when you can.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68096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D43B"/>
                </a:solidFill>
                <a:latin typeface="Trebuchet MS"/>
              </a:rPr>
              <a:t>PART 3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Trebuchet MS"/>
              </a:rPr>
              <a:t>The `while` loop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9BDD1"/>
                </a:solidFill>
                <a:latin typeface="Trebuchet MS"/>
              </a:rPr>
              <a:t>Repeating until something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03120"/>
            <a:ext cx="329184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D43B"/>
                </a:solidFill>
                <a:latin typeface="Trebuchet MS"/>
              </a:rPr>
              <a:t>IN THIS PART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Syntax and the counter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Reading until a sentinel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Infinite loops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SYNTAX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while &lt;condition&gt;: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The `while`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1773169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1498849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i = 1                 # set up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while i &lt;= 5:         # test, every turn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print(i)          # body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i = i + 1         # step — without this it never ends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92825"/>
            <a:ext cx="10911535" cy="1919473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739129"/>
            <a:ext cx="10545775" cy="1681729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731754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731754"/>
            <a:ext cx="64008" cy="713232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5823194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776AB"/>
                </a:solidFill>
                <a:latin typeface="Trebuchet MS"/>
              </a:rPr>
              <a:t>TIP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Same output as the </a:t>
            </a:r>
            <a:r>
              <a:rPr sz="1500" b="0">
                <a:solidFill>
                  <a:srgbClr val="3776AB"/>
                </a:solidFill>
                <a:latin typeface="Consolas"/>
              </a:rPr>
              <a:t>for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above, three extra lines. That is why counting jobs belong to </a:t>
            </a:r>
            <a:r>
              <a:rPr sz="1500" b="0">
                <a:solidFill>
                  <a:srgbClr val="3776AB"/>
                </a:solidFill>
                <a:latin typeface="Consolas"/>
              </a:rPr>
              <a:t>for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SENTINEL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Reading until the user stops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The `while`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852160" cy="2314187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5486400" cy="2039867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number = int(input())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while number != 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print(number * 2)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number = int(input())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print('done')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600200"/>
            <a:ext cx="4389120" cy="2189982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1746504"/>
            <a:ext cx="4023360" cy="195223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A SESSION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4      &lt;- typed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7      &lt;- typed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14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0      &lt;- typed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done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25283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225283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316723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Trebuchet MS"/>
              </a:rPr>
              <a:t>REMEMBER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This is the shape of every sentinel loop: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read once before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the loop, and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read again at the end of the body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WATCH OUT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The loop that never 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The `while`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852160" cy="1502660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5486400" cy="12283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i =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while i &lt;= 5: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print(i)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EA6BD"/>
                </a:solidFill>
                <a:latin typeface="Consolas"/>
              </a:rPr>
              <a:t>    # i never changes -&gt; the condition is always true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600200"/>
            <a:ext cx="4389120" cy="2189982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1746504"/>
            <a:ext cx="4023360" cy="195223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FOREVER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50916"/>
            <a:ext cx="10911535" cy="2667004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Press </a:t>
            </a:r>
            <a:r>
              <a:rPr sz="1800" b="1">
                <a:solidFill>
                  <a:srgbClr val="1E2A38"/>
                </a:solidFill>
                <a:latin typeface="Trebuchet MS"/>
              </a:rPr>
              <a:t>Ctrl + C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in the terminal to stop a runaway program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Before you run a </a:t>
            </a:r>
            <a:r>
              <a:rPr sz="1800" b="0">
                <a:solidFill>
                  <a:srgbClr val="3776AB"/>
                </a:solidFill>
                <a:latin typeface="Consolas"/>
              </a:rPr>
              <a:t>while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, find the line that moves it towards the end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If the condition can never become false, the loop is a bug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68096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D43B"/>
                </a:solidFill>
                <a:latin typeface="Trebuchet MS"/>
              </a:rPr>
              <a:t>PART 4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Trebuchet MS"/>
              </a:rPr>
              <a:t>break and continue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9BDD1"/>
                </a:solidFill>
                <a:latin typeface="Trebuchet MS"/>
              </a:rPr>
              <a:t>Leaving early, skipping a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03120"/>
            <a:ext cx="329184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D43B"/>
                </a:solidFill>
                <a:latin typeface="Trebuchet MS"/>
              </a:rPr>
              <a:t>IN THIS PART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`break` stops the loop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`continue` skips one turn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When not to use them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BREAK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break — stop the whole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break and continue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852160" cy="1502660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5486400" cy="12283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for n in range(100, 200):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if n % 7 == 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    print(n)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    break            # found it, nothing left to 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600200"/>
            <a:ext cx="4389120" cy="837437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1746504"/>
            <a:ext cx="4023360" cy="599693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105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13756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413756"/>
            <a:ext cx="64008" cy="713232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505196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776AB"/>
                </a:solidFill>
                <a:latin typeface="Trebuchet MS"/>
              </a:rPr>
              <a:t>TIP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Without </a:t>
            </a:r>
            <a:r>
              <a:rPr sz="1500" b="0">
                <a:solidFill>
                  <a:srgbClr val="3776AB"/>
                </a:solidFill>
                <a:latin typeface="Consolas"/>
              </a:rPr>
              <a:t>break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the loop would keep running through 199 and print every multiple of 7.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CONTINUE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continue — skip this one, keep going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break and continue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852160" cy="1502660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5486400" cy="12283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for n in range(1, 11):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if n % 2 == 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    continue         # even -&gt; jump to the next 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600200"/>
            <a:ext cx="4389120" cy="1919473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1746504"/>
            <a:ext cx="4023360" cy="1681729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7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59476"/>
            <a:ext cx="10911535" cy="2758444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3776AB"/>
                </a:solidFill>
                <a:latin typeface="Consolas"/>
              </a:rPr>
              <a:t>break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leaves the loop; </a:t>
            </a:r>
            <a:r>
              <a:rPr sz="1800" b="0">
                <a:solidFill>
                  <a:srgbClr val="3776AB"/>
                </a:solidFill>
                <a:latin typeface="Consolas"/>
              </a:rPr>
              <a:t>continue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only ends the </a:t>
            </a:r>
            <a:r>
              <a:rPr sz="1800" b="1">
                <a:solidFill>
                  <a:srgbClr val="1E2A38"/>
                </a:solidFill>
                <a:latin typeface="Trebuchet MS"/>
              </a:rPr>
              <a:t>current turn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Both work in </a:t>
            </a:r>
            <a:r>
              <a:rPr sz="1800" b="0">
                <a:solidFill>
                  <a:srgbClr val="3776AB"/>
                </a:solidFill>
                <a:latin typeface="Consolas"/>
              </a:rPr>
              <a:t>for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and in </a:t>
            </a:r>
            <a:r>
              <a:rPr sz="1800" b="0">
                <a:solidFill>
                  <a:srgbClr val="3776AB"/>
                </a:solidFill>
                <a:latin typeface="Consolas"/>
              </a:rPr>
              <a:t>while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In a </a:t>
            </a:r>
            <a:r>
              <a:rPr sz="1800" b="0">
                <a:solidFill>
                  <a:srgbClr val="3776AB"/>
                </a:solidFill>
                <a:latin typeface="Consolas"/>
              </a:rPr>
              <a:t>while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, a </a:t>
            </a:r>
            <a:r>
              <a:rPr sz="1800" b="0">
                <a:solidFill>
                  <a:srgbClr val="3776AB"/>
                </a:solidFill>
                <a:latin typeface="Consolas"/>
              </a:rPr>
              <a:t>continue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that skips the step gives an infinite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39496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5394960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548640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Trebuchet MS"/>
              </a:rPr>
              <a:t>REMEMBER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The same output comes from </a:t>
            </a:r>
            <a:r>
              <a:rPr sz="1500" b="0">
                <a:solidFill>
                  <a:srgbClr val="3776AB"/>
                </a:solidFill>
                <a:latin typeface="Consolas"/>
              </a:rPr>
              <a:t>if n % 2 == 1: print(n)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— often the plain condition reads better than </a:t>
            </a:r>
            <a:r>
              <a:rPr sz="1500" b="0">
                <a:solidFill>
                  <a:srgbClr val="3776AB"/>
                </a:solidFill>
                <a:latin typeface="Consolas"/>
              </a:rPr>
              <a:t>continue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68096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D43B"/>
                </a:solidFill>
                <a:latin typeface="Trebuchet MS"/>
              </a:rPr>
              <a:t>PART 5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Trebuchet MS"/>
              </a:rPr>
              <a:t>Accumulator patterns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9BDD1"/>
                </a:solidFill>
                <a:latin typeface="Trebuchet MS"/>
              </a:rPr>
              <a:t>Four loops you will write all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03120"/>
            <a:ext cx="329184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D43B"/>
                </a:solidFill>
                <a:latin typeface="Trebuchet MS"/>
              </a:rPr>
              <a:t>IN THIS PART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Total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Count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Largest and smallest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Building a string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ACCUMULATE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Pattern 1 — a running total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Accumulator patterns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852160" cy="2043678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5486400" cy="176935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total = 0                    # start empty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for i in range(1, 6):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total = total + i        # add this turn's value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print(total)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600200"/>
            <a:ext cx="4389120" cy="837437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1746504"/>
            <a:ext cx="4023360" cy="599693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54774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954774"/>
            <a:ext cx="64008" cy="7132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046214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62828"/>
                </a:solidFill>
                <a:latin typeface="Trebuchet MS"/>
              </a:rPr>
              <a:t>WATCH OUT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The variable is created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before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the loop and printed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after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it. Put either one inside, and the answer is wrong.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COUNT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Pattern 2 — counting matches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Accumulator patterns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852160" cy="2584696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5486400" cy="231037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word = "repetition"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vowels = 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for letter in word: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if letter in "aeiou":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    vowels = vowels + 1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print(vowels)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600200"/>
            <a:ext cx="4389120" cy="837437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1746504"/>
            <a:ext cx="4023360" cy="599693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95792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495792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587232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Trebuchet MS"/>
              </a:rPr>
              <a:t>REMEMBER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A loop with an </a:t>
            </a:r>
            <a:r>
              <a:rPr sz="1500" b="0">
                <a:solidFill>
                  <a:srgbClr val="3776AB"/>
                </a:solidFill>
                <a:latin typeface="Consolas"/>
              </a:rPr>
              <a:t>if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inside it — the two topics meet here, and most exercises from now on look like this.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MIN / MAX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Pattern 3 — the largest so far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Accumulator patterns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6217920" cy="2584696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5852160" cy="231037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largest = int(input())       # the first value is the champion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for _ in range(4):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value = int(input())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if value &gt; largest: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    largest = value      # a new champion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print(largest)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600200"/>
            <a:ext cx="4023360" cy="1378455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24928" y="1746504"/>
            <a:ext cx="3657600" cy="1140711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IN / OUT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5  12  3  8  15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95792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495792"/>
            <a:ext cx="64008" cy="7132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587232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62828"/>
                </a:solidFill>
                <a:latin typeface="Trebuchet MS"/>
              </a:rPr>
              <a:t>WATCH OUT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Never start </a:t>
            </a:r>
            <a:r>
              <a:rPr sz="1500" b="0">
                <a:solidFill>
                  <a:srgbClr val="3776AB"/>
                </a:solidFill>
                <a:latin typeface="Consolas"/>
              </a:rPr>
              <a:t>largest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at 0 — all-negative input would then give a wrong answer. Start from the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first value read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SUMMARY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The four patterns side by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Accumulator patterns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911533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337"/>
                <a:gridCol w="3896976"/>
                <a:gridCol w="4871220"/>
              </a:tblGrid>
              <a:tr h="3401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Goal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Before the loop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Inside the loop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total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total = 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total = total + value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count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count = 0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if ...: count = count + 1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largest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largest = first value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if value &gt; largest: ...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01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text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line = ""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line = line + piece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20624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206240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429768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Trebuchet MS"/>
              </a:rPr>
              <a:t>REMEMBER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Every one of them: create it before, change it inside, use it after. Learn the shape, not the four separate recipes.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68096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D43B"/>
                </a:solidFill>
                <a:latin typeface="Trebuchet MS"/>
              </a:rPr>
              <a:t>PART 6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Trebuchet MS"/>
              </a:rPr>
              <a:t>Nested loops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9BDD1"/>
                </a:solidFill>
                <a:latin typeface="Trebuchet MS"/>
              </a:rPr>
              <a:t>A loop inside a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03120"/>
            <a:ext cx="329184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D43B"/>
                </a:solidFill>
                <a:latin typeface="Trebuchet MS"/>
              </a:rPr>
              <a:t>IN THIS PART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Rows and columns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Printing on one line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Reading the output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NESTING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A loop inside a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Nested loops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852160" cy="1502660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5486400" cy="12283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for row in range(1, 4):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for col in range(1, 4):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    print(row * col, end=' ')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print()              # end the row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600200"/>
            <a:ext cx="4389120" cy="1378455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1746504"/>
            <a:ext cx="4023360" cy="1140711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1 2 3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2 4 6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3 6 9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13756"/>
            <a:ext cx="10911535" cy="2804164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The </a:t>
            </a:r>
            <a:r>
              <a:rPr sz="1800" b="1">
                <a:solidFill>
                  <a:srgbClr val="1E2A38"/>
                </a:solidFill>
                <a:latin typeface="Trebuchet MS"/>
              </a:rPr>
              <a:t>inner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loop runs all the way through for every single outer turn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3 rows × 3 columns = 9 prints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3776AB"/>
                </a:solidFill>
                <a:latin typeface="Consolas"/>
              </a:rPr>
              <a:t>print()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with nothing in it ends the line and starts the next row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print(end=...) keeps the line 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Nested loops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486400" cy="1232151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5120640" cy="957831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for i in range(1, 6):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print(i, end=' ')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00200"/>
            <a:ext cx="4754880" cy="837437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93408" y="1746504"/>
            <a:ext cx="4389120" cy="599693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1 2 3 4 5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34687"/>
            <a:ext cx="5486400" cy="961642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417567"/>
            <a:ext cx="5120640" cy="68732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for i in range(1, 6):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227065"/>
            <a:ext cx="4754880" cy="1919473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8" y="3373369"/>
            <a:ext cx="4389120" cy="1681729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48640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486400"/>
            <a:ext cx="64008" cy="713232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557784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776AB"/>
                </a:solidFill>
                <a:latin typeface="Trebuchet MS"/>
              </a:rPr>
              <a:t>TIP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By default </a:t>
            </a:r>
            <a:r>
              <a:rPr sz="1500" b="0">
                <a:solidFill>
                  <a:srgbClr val="3776AB"/>
                </a:solidFill>
                <a:latin typeface="Consolas"/>
              </a:rPr>
              <a:t>print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ends with a newline. </a:t>
            </a:r>
            <a:r>
              <a:rPr sz="1500" b="0">
                <a:solidFill>
                  <a:srgbClr val="3776AB"/>
                </a:solidFill>
                <a:latin typeface="Consolas"/>
              </a:rPr>
              <a:t>end=' '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replaces it with a space — the rest of the line stays open.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PATTERNS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Build a triangle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Nested loops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852160" cy="1502660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5486400" cy="12283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for row in range(1, 5):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for star in range(row):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    print('*', end='')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600200"/>
            <a:ext cx="4389120" cy="1648964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1746504"/>
            <a:ext cx="4023360" cy="14112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*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**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***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****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13756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413756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505196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Trebuchet MS"/>
              </a:rPr>
              <a:t>REMEMBER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The inner loop's count depends on the outer variable — </a:t>
            </a:r>
            <a:r>
              <a:rPr sz="1500" b="0">
                <a:solidFill>
                  <a:srgbClr val="3776AB"/>
                </a:solidFill>
                <a:latin typeface="Consolas"/>
              </a:rPr>
              <a:t>range(row)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is what makes the shape grow.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9784080" cy="32918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400" b="1" i="0">
                <a:solidFill>
                  <a:srgbClr val="FFFFFF"/>
                </a:solidFill>
                <a:latin typeface="Trebuchet MS"/>
              </a:rPr>
              <a:t>Your turn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2200" b="0" i="0">
                <a:solidFill>
                  <a:srgbClr val="C3D3E1"/>
                </a:solidFill>
                <a:latin typeface="Trebuchet MS"/>
              </a:rPr>
              <a:t>Start with right_triangle and temperature_table, then work down the table of contents.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8FB6D9"/>
                </a:solidFill>
                <a:latin typeface="Trebuchet MS"/>
              </a:rPr>
              <a:t>Before you write a loop, answer three questions: what repeats, what changes each turn, and what makes it stop.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029200"/>
            <a:ext cx="9784080" cy="10972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FFD43B"/>
                </a:solidFill>
                <a:latin typeface="Trebuchet MS"/>
              </a:rPr>
              <a:t>uv run pytest repetitions/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D43B"/>
                </a:solidFill>
                <a:latin typeface="Trebuchet MS"/>
              </a:rPr>
              <a:t>Good luck  ·  see you soon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